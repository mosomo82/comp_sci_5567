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9" r:id="rId15"/>
    <p:sldId id="272" r:id="rId23"/>
    <p:sldId id="270" r:id="rId16"/>
    <p:sldId id="259" r:id="rId5"/>
    <p:sldId id="258" r:id="rId4"/>
    <p:sldId id="271" r:id="rId22"/>
    <p:sldId id="262" r:id="rId8"/>
    <p:sldId id="264" r:id="rId10"/>
    <p:sldId id="265" r:id="rId11"/>
    <p:sldId id="273" r:id="rId24"/>
    <p:sldId id="268" r:id="rId14"/>
    <p:sldId id="266" r:id="rId12"/>
    <p:sldId id="274" r:id="rId25"/>
    <p:sldId id="260" r:id="rId6"/>
    <p:sldId id="261" r:id="rId7"/>
    <p:sldId id="263" r:id="rId9"/>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[Bosia · about 30 seconds] Hello. We are Bosia N'dri, Rehan Ali, and Tony Nguyen. Our project is pedestrian tracking on the MOT16 dataset. Today we follow the midterm requirements: first our workload, then our timeline, then our progress, and then the methods we use. We also show a short demo. [Next: the aim of the project]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[Bosia · about 1 minute] The aim of the project is offline multi-object tracking. A detector finds the people in each frame. A tracker must also give each person one number for the whole video. This is used in surveillance and in self-driving cars. It is hard for three reasons: people hide behind others, many people look alike, and people leave while new people arrive. The picture shows a mistake from an early prototype: the red line jumps to another person. This is called an ID switch. At the end of the course we must deliver our code, a tracking video of one person on a MOT16 test video, a report, and a presentation. [Next: Rehan, the workload]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[Rehan · about 1 minute] Pipeline A has three parts. Faster R-CNN is a two-stage detector from the R-CNN family: it first proposes regions, then classifies them. We start from COCO weights, change the last layer to two classes, freeze the main part, and train 16 million of 43 million numbers for 4 epochs. The Siamese network uses the same network for both pictures and gives 128 numbers per person. The tracker predicts with a Kalman filter and matches with the Hungarian algorithm, using 60 percent look and 40 percent overlap. The tracker and the ReID training are our own code; the detector comes from torchvision. [Next: Tony, Pipeline B]</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[Tony · about 1 minute] Now the methods. We use MOT16, a set of busy street videos. Some come with answers: a box and an ID for every person in every frame. We train on six videos and keep MOT16-09 hidden: 525 frames, 25 people, 5,257 boxes. We split by whole video, not by random frames, because neighbouring frames look almost the same. We score with the official TrackEval tool. HOTA is the balance between finding people, called DetA, and linking them, called AssA. IDF1 tells how long each person keeps the same ID. MOTA mostly counts misses and false boxes. Pipeline A first used its own metric code. TrackEval gives the same numbers, for example IDF1 60.35 against 60.3. [Next: Rehan, Pipeline 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slide for questions] Detector data: every second frame of the six training videos (2,396 frames) with flip, colour jitter and blur. ReID data: person crops, one folder per person: 20,146 crops of 362 people for training and 24 unseen people for testing.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slide for questions] Same evaluator for both detectors on all 525 frames. AP@0.5 is 0.7896 for YOLO and 0.7798 for Faster R-CNN. At precision 0.80, YOLO finds 0.471 of hidden people and Faster R-CNN 0.316; overall 0.798 and 0.757. In the final outputs, unmatched boxes are 478 (B) and 1,073 (A). For Pipeline B, 79 percent of the misses have visibility below 0.25.</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[Bosia · about 1 minute 15 seconds] Both pipelines use a Siamese network for re-identification: the same network embeds two pictures, and we compare the numbers. Same person: close. Different people: far apart. We train it with triplet loss. We take an anchor picture, another picture of the same person, and a picture of a different person. The loss pulls the same person closer and pushes the different person away by at least 0.3. We pick the hardest examples in each batch. Pipeline B adds an identity loss. We also hide parts of the pictures to copy occlusion. Both models start from ImageNet weights, which is transfer learning, like the detector. On a common test, Rank-1 is 0.767 for A and 0.922 for B. B is larger, and we chose its checkpoint on this video. [Next: Tony, tracking]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slide for questions] Common protocol on MOT16-09: A ImageNet 0.400 mAP, 0.564 Rank-1; A trained 0.635, 0.767; B ImageNet 0.460, 0.533; B trained 0.844, 0.922. B has a larger network and input, and its checkpoint was chosen on this video. Pipeline A's own, easier test gave Rank-1 0.914.</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[Tony · about 1 minute] Every frame, the tracker does four steps. Predict: a Kalman filter guesses where each person will be. Match: the Hungarian algorithm pairs boxes and tracks all at once. Guard: a match must be close and look alike, so an ID cannot jump across the picture. Offline rules: when a person leaves, the track ends; gaps of up to 5 frames are filled; very short tracks are dropped. This is Pipeline A. Pipeline B's BoT-SORT follows the same ideas without appearance, and our repair adds appearance after tracking. [Next: results so far]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[Tony · about 1 minute 15 seconds] These are our results so far, on the hidden video, scored by TrackEval. Pipeline A keeps identities more stable than BoT-SORT: 35 ID switches against 46. Our repair raises Pipeline B a lot: HOTA from 48.40 to 55.30, and IDF1 from 55.65 to 68.04. But the ID switches also rise from 46 to 56. If we put YOLO detections into Pipeline A's tracker, we get 30 ID switches. For detection, the average precision is similar: 0.7896 for B and 0.7798 for A. For ReID, B scores higher, but it is a larger model. All settings were chosen on this video, so the scores are a little too good. [Next: experiments with the code]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[Bosia · about 1 minute, with video] Now the demo. [Click the left video and play about 15 seconds, then click the right video.] In Pipeline A's video, the target has ID 11 from frame 1 to frame 361, with no missing frame, and he leaves on the right. In Pipeline B's video the camera moves, and the man with ID 215 crosses the road toward the camera. We chose these targets because they are clean, so they show good cases. The per-person numbers show that most people are harder. [If a video does not play, use the links at the bottom of the slide.] [Next: next steps and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[Rehan · about 45 seconds] We also counted how many people keep one ID. Of 18 people who appear for at least 100 frames, no run has more than 2 perfect people. In our test video we saw three problems. A man behind a light pole got two IDs. Two false tracks appeared near a bright entrance. And people who sit or stand still were not detected. We think static people were not in our training labels, but we did not test this. [Next: Bosia, the demo]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[Rehan · about 1 minute] This slide shows who is responsible for what. [Each member reads their own row. Team: please confirm the rows before Thursday.] Bosia and I worked on Pipeline A: the design, the models, our own tracker, our own metric code, and the MOT16-01 target video. Tony built Pipeline B and did the evaluation and the comparison of both pipelines. Together we share the final report, the final presentation, and the individual questionnaire. [Next: timeline]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[Rehan · about 45 seconds] Here is our progress. Both pipelines run from start to end. We have seven Colab notebooks for Pipeline B and the comparison, and five more in the Pipeline A repository. We made two target videos, one on MOT16-01 and one on MOT16-14. The report draft has 12 pages with tables and figures. Still open are the second validation sequence and the final polish. [Next: Tony, data and evaluation]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[Rehan · about 45 seconds] This is our timeline. We started on September 23 with the midterm rules. After the second meeting on September 26, the professor fixed the topic: human video tracking on the provided data. Between October 15 and 17 we built and compared the two pipelines. Today, October 22, is the midterm. Before the final we will test a second sequence and finish the report. The final presentation date is still to be announced. [Next: our progress]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[Tony · about 1 minute] Pipeline B uses newer parts. YOLO is a one-stage detector: it finds the boxes in one pass over the image. We train all its layers at image size 960. The ReID network is a ResNet-50 with 2048 numbers per person, trained with an identity loss and a triplet loss. The tracker is BoT-SORT from a library, and it does not use appearance. So we wrote a repair step: it cuts a track when the look changes, and it joins tracks that look the same and are close in time. The detector and BoT-SORT are library code. The ReID training, the repair, the evaluation, and the target selection are our own work. [Next: Bosia, re-identification]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[Tony · about 1 minute] The midterm asks us to play with the code, so here are four changes we tried. One: in YOLO training we set scale augmentation from 0.5 to 0. Precision went up and recall went down, and mAP did not change much; with one seed this is within noise. Two: in Pipeline A we added one tracker step at a time. IDF1 went from 47.7 to 56.2 with the Kalman filter, and to 62.2 with the Siamese network. The last steps lowered it to 60.3 but reduced misses. Three: for our repair, split 0.5 and merge 0.35 worked best, and split 0.4 cut too often. Four: lower score thresholds in the tracker find more people, with misses falling from 1,609 to 1,208, but they lower the association score from 44.57 to 38.40. [Next: Rehan, what goes wrong]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[Bosia · about 45 seconds] Next steps. We will test a second validation sequence, train with static people in the labels, apply our repair to Pipeline A's tracker, and finish the final report. Our limits: one validation video, settings chosen on it, speeds from different GPUs that are not comparable, and test videos that are only qualitative. Thank you. We are happy to answer questions. [For questions: Rehan for Pipeline A and the data, Tony for Pipeline B and the evaluation, Bosia for re-identification and the demo.]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293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5202E"/>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981134"/>
            <a:ext cx="10566400" cy="4064066"/>
          </a:xfrm>
          <a:prstGeom prst="rect">
            <a:avLst/>
          </a:prstGeom>
          <a:noFill/>
          <a:ln/>
        </p:spPr>
        <p:txBody>
          <a:bodyPr wrap="square" lIns="0" tIns="0" rIns="0" bIns="0" rtlCol="0" anchor="t"/>
          <a:lstStyle>
            <a:lvl1pPr algn="l" indent="0" marL="0">
              <a:lnSpc>
                <a:spcPct val="140000"/>
              </a:lnSpc>
              <a:buNone/>
              <a:defRPr lang="en-US" sz="1600" dirty="0">
                <a:solidFill>
                  <a:srgbClr val="1520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293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5202E"/>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981134"/>
            <a:ext cx="10566400" cy="4064066"/>
          </a:xfrm>
          <a:prstGeom prst="rect">
            <a:avLst/>
          </a:prstGeom>
          <a:noFill/>
          <a:ln/>
        </p:spPr>
        <p:txBody>
          <a:bodyPr wrap="square" lIns="0" tIns="0" rIns="0" bIns="0" rtlCol="0" anchor="t"/>
          <a:lstStyle>
            <a:lvl1pPr algn="l" indent="0" marL="0">
              <a:lnSpc>
                <a:spcPct val="140000"/>
              </a:lnSpc>
              <a:buNone/>
              <a:defRPr lang="en-US" sz="1600" dirty="0">
                <a:solidFill>
                  <a:srgbClr val="1520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notesSlide" Target="../notesSlides/notesSlide6.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4.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 Id="rId4" Type="http://schemas.microsoft.com/office/2007/relationships/media" Target="../media/media1.mp4"/><Relationship Id="rId5" Type="http://schemas.openxmlformats.org/officeDocument/2006/relationships/video" Target="../media/media1.mp4"/><Relationship Id="rId6" Type="http://schemas.openxmlformats.org/officeDocument/2006/relationships/image" Target="../media/image1.png"/><Relationship Id="rId7" Type="http://schemas.microsoft.com/office/2007/relationships/media" Target="../media/media2.mp4"/><Relationship Id="rId8" Type="http://schemas.openxmlformats.org/officeDocument/2006/relationships/video" Target="../media/media2.mp4"/><Relationship Id="rId9" Type="http://schemas.openxmlformats.org/officeDocument/2006/relationships/image" Target="../media/image2.png"/><Relationship Id="rId10" Type="http://schemas.openxmlformats.org/officeDocument/2006/relationships/hyperlink" Target="https://github.com/Rehan-rahim/mot16-pedestrian-tracking_project/blob/main/outputs/videos/MOT16-01_target.mp4" TargetMode="External"/><Relationship Id="rId11" Type="http://schemas.openxmlformats.org/officeDocument/2006/relationships/hyperlink" Target="https://drive.google.com/drive/folders/19Z_0Swv9Cj_GKvjMxshVTRSGltaQ7dk9" TargetMode="Externa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08A4B"/>
                </a:solidFill>
                <a:latin typeface="IBM Plex Sans" pitchFamily="34" charset="0"/>
                <a:ea typeface="IBM Plex Sans" pitchFamily="34" charset="-122"/>
                <a:cs typeface="IBM Plex Sans" pitchFamily="34" charset="-120"/>
              </a:rPr>
              <a:t>COMP-SCI 5567 DEEP LEARNING · MIDTERM</a:t>
            </a:r>
            <a:endParaRPr lang="en-US" sz="1400" dirty="0"/>
          </a:p>
        </p:txBody>
      </p:sp>
      <p:sp>
        <p:nvSpPr>
          <p:cNvPr id="3" name="Text 1"/>
          <p:cNvSpPr/>
          <p:nvPr>
            <p:ph type="title"/>
          </p:nvPr>
        </p:nvSpPr>
        <p:spPr>
          <a:xfrm>
            <a:off x="812800" y="1264907"/>
            <a:ext cx="10883392" cy="718807"/>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6F4EF"/>
                </a:solidFill>
                <a:latin typeface="Space Grotesk" pitchFamily="34" charset="0"/>
                <a:ea typeface="Space Grotesk" pitchFamily="34" charset="-122"/>
                <a:cs typeface="Space Grotesk" pitchFamily="34" charset="-120"/>
              </a:rPr>
              <a:t>Pedestrian Tracking on MOT16</a:t>
            </a:r>
            <a:endParaRPr lang="en-US" sz="5200" dirty="0"/>
          </a:p>
        </p:txBody>
      </p:sp>
      <p:sp>
        <p:nvSpPr>
          <p:cNvPr id="4" name="Text 2"/>
          <p:cNvSpPr/>
          <p:nvPr/>
        </p:nvSpPr>
        <p:spPr>
          <a:xfrm>
            <a:off x="812800" y="2161514"/>
            <a:ext cx="915670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C9D2DC"/>
                </a:solidFill>
                <a:latin typeface="IBM Plex Sans" pitchFamily="34" charset="0"/>
                <a:ea typeface="IBM Plex Sans" pitchFamily="34" charset="-122"/>
                <a:cs typeface="IBM Plex Sans" pitchFamily="34" charset="-120"/>
              </a:rPr>
              <a:t>Workload, timeline, progress and methods of two pipelines: Faster R-CNN + Siamese ReID (A) and YOLO + ReID + BoT-SORT (B)</a:t>
            </a:r>
            <a:endParaRPr lang="en-US" sz="1800" dirty="0"/>
          </a:p>
        </p:txBody>
      </p:sp>
      <p:sp>
        <p:nvSpPr>
          <p:cNvPr id="5" name="Shape 3"/>
          <p:cNvSpPr/>
          <p:nvPr/>
        </p:nvSpPr>
        <p:spPr>
          <a:xfrm>
            <a:off x="812800" y="3770643"/>
            <a:ext cx="10566400" cy="1822450"/>
          </a:xfrm>
          <a:prstGeom prst="roundRect">
            <a:avLst>
              <a:gd name="adj" fmla="val 4181"/>
            </a:avLst>
          </a:prstGeom>
          <a:solidFill>
            <a:srgbClr val="F6F4EF"/>
          </a:solidFill>
          <a:ln/>
        </p:spPr>
      </p:sp>
      <p:pic>
        <p:nvPicPr>
          <p:cNvPr id="6" name="Image 0" descr="Twelve crops of the same pedestrian, the man in a black cardigan, tracked from frame 1 to frame 361 of MOT16-01">    </p:cNvPr>
          <p:cNvPicPr>
            <a:picLocks noChangeAspect="1"/>
          </p:cNvPicPr>
          <p:nvPr/>
        </p:nvPicPr>
        <p:blipFill>
          <a:blip r:embed="rId1"/>
          <a:srcRect l="0" r="0" t="-27" b="-27"/>
          <a:stretch/>
        </p:blipFill>
        <p:spPr>
          <a:xfrm>
            <a:off x="812800" y="3770643"/>
            <a:ext cx="10566400" cy="1822450"/>
          </a:xfrm>
          <a:prstGeom prst="roundRect">
            <a:avLst>
              <a:gd name="adj" fmla="val 4181"/>
            </a:avLst>
          </a:prstGeom>
        </p:spPr>
      </p:pic>
      <p:sp>
        <p:nvSpPr>
          <p:cNvPr id="7" name="Text 4"/>
          <p:cNvSpPr/>
          <p:nvPr/>
        </p:nvSpPr>
        <p:spPr>
          <a:xfrm>
            <a:off x="812800" y="5796293"/>
            <a:ext cx="1088339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2DC"/>
                </a:solidFill>
                <a:latin typeface="IBM Plex Sans" pitchFamily="34" charset="0"/>
                <a:ea typeface="IBM Plex Sans" pitchFamily="34" charset="-122"/>
                <a:cs typeface="IBM Plex Sans" pitchFamily="34" charset="-120"/>
              </a:rPr>
              <a:t>Rehan Ali · Bosia N’dri · Tony Nguyen · University of Missouri–Kansas City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501F"/>
                </a:solidFill>
                <a:latin typeface="IBM Plex Sans" pitchFamily="34" charset="0"/>
                <a:ea typeface="IBM Plex Sans" pitchFamily="34" charset="-122"/>
                <a:cs typeface="IBM Plex Sans" pitchFamily="34" charset="-120"/>
              </a:rPr>
              <a:t>THE AIM OF THE PROJECT</a:t>
            </a:r>
            <a:endParaRPr lang="en-US" sz="1200" dirty="0"/>
          </a:p>
        </p:txBody>
      </p:sp>
      <p:sp>
        <p:nvSpPr>
          <p:cNvPr id="3" name="Text 1"/>
          <p:cNvSpPr/>
          <p:nvPr>
            <p:ph type="title"/>
          </p:nvPr>
        </p:nvSpPr>
        <p:spPr>
          <a:xfrm>
            <a:off x="812800" y="1229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02E"/>
                </a:solidFill>
                <a:latin typeface="Space Grotesk" pitchFamily="34" charset="0"/>
                <a:ea typeface="Space Grotesk" pitchFamily="34" charset="-122"/>
                <a:cs typeface="Space Grotesk" pitchFamily="34" charset="-120"/>
              </a:rPr>
              <a:t>Follow every person and keep one ID</a:t>
            </a:r>
            <a:endParaRPr lang="en-US" sz="3200" dirty="0"/>
          </a:p>
        </p:txBody>
      </p:sp>
      <p:sp>
        <p:nvSpPr>
          <p:cNvPr id="4" name="Text 2"/>
          <p:cNvSpPr/>
          <p:nvPr/>
        </p:nvSpPr>
        <p:spPr>
          <a:xfrm>
            <a:off x="812800" y="1879534"/>
            <a:ext cx="510159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363"/>
                </a:solidFill>
                <a:latin typeface="IBM Plex Sans" pitchFamily="34" charset="0"/>
                <a:ea typeface="IBM Plex Sans" pitchFamily="34" charset="-122"/>
                <a:cs typeface="IBM Plex Sans" pitchFamily="34" charset="-120"/>
              </a:rPr>
              <a:t>Offline multi-object tracking on MOT16: find every pedestrian in each frame and give each person one ID for the whole video.</a:t>
            </a:r>
            <a:endParaRPr lang="en-US" sz="1500" dirty="0"/>
          </a:p>
        </p:txBody>
      </p:sp>
      <p:sp>
        <p:nvSpPr>
          <p:cNvPr id="5" name="Text 3"/>
          <p:cNvSpPr/>
          <p:nvPr/>
        </p:nvSpPr>
        <p:spPr>
          <a:xfrm>
            <a:off x="815975" y="2835209"/>
            <a:ext cx="4946650" cy="496094"/>
          </a:xfrm>
          <a:prstGeom prst="roundRect">
            <a:avLst>
              <a:gd name="adj" fmla="val 14720"/>
            </a:avLst>
          </a:prstGeom>
          <a:solidFill>
            <a:srgbClr val="FFFFFF"/>
          </a:solidFill>
          <a:ln w="6350">
            <a:solidFill>
              <a:srgbClr val="E2DED5"/>
            </a:solidFill>
            <a:prstDash val="solid"/>
          </a:ln>
        </p:spPr>
        <p:txBody>
          <a:bodyPr wrap="square" lIns="157470" tIns="106670" rIns="19802" bIns="81270" rtlCol="0" anchor="t">
            <a:normAutofit/>
          </a:bodyPr>
          <a:lstStyle/>
          <a:p>
            <a:pPr algn="l" indent="0" marL="0">
              <a:lnSpc>
                <a:spcPts val="1890"/>
              </a:lnSpc>
              <a:buNone/>
            </a:pPr>
            <a:r>
              <a:rPr lang="en-US" sz="1400" b="1" dirty="0">
                <a:solidFill>
                  <a:srgbClr val="15202E"/>
                </a:solidFill>
                <a:latin typeface="IBM Plex Sans" pitchFamily="34" charset="0"/>
                <a:ea typeface="IBM Plex Sans" pitchFamily="34" charset="-122"/>
                <a:cs typeface="IBM Plex Sans" pitchFamily="34" charset="-120"/>
              </a:rPr>
              <a:t>Occlusion</a:t>
            </a:r>
            <a:r>
              <a:rPr lang="en-US" sz="1400" dirty="0">
                <a:solidFill>
                  <a:srgbClr val="15202E"/>
                </a:solidFill>
                <a:latin typeface="IBM Plex Sans" pitchFamily="34" charset="0"/>
                <a:ea typeface="IBM Plex Sans" pitchFamily="34" charset="-122"/>
                <a:cs typeface="IBM Plex Sans" pitchFamily="34" charset="-120"/>
              </a:rPr>
              <a:t> – people vanish behind others</a:t>
            </a:r>
            <a:endParaRPr lang="en-US" sz="1400" dirty="0"/>
          </a:p>
        </p:txBody>
      </p:sp>
      <p:sp>
        <p:nvSpPr>
          <p:cNvPr id="6" name="Text 4"/>
          <p:cNvSpPr/>
          <p:nvPr/>
        </p:nvSpPr>
        <p:spPr>
          <a:xfrm>
            <a:off x="815975" y="3439253"/>
            <a:ext cx="4946650" cy="496094"/>
          </a:xfrm>
          <a:prstGeom prst="roundRect">
            <a:avLst>
              <a:gd name="adj" fmla="val 14720"/>
            </a:avLst>
          </a:prstGeom>
          <a:solidFill>
            <a:srgbClr val="FFFFFF"/>
          </a:solidFill>
          <a:ln w="6350">
            <a:solidFill>
              <a:srgbClr val="E2DED5"/>
            </a:solidFill>
            <a:prstDash val="solid"/>
          </a:ln>
        </p:spPr>
        <p:txBody>
          <a:bodyPr wrap="square" lIns="157470" tIns="106670" rIns="19802" bIns="81270" rtlCol="0" anchor="t">
            <a:normAutofit/>
          </a:bodyPr>
          <a:lstStyle/>
          <a:p>
            <a:pPr algn="l" indent="0" marL="0">
              <a:lnSpc>
                <a:spcPts val="1890"/>
              </a:lnSpc>
              <a:buNone/>
            </a:pPr>
            <a:r>
              <a:rPr lang="en-US" sz="1400" b="1" dirty="0">
                <a:solidFill>
                  <a:srgbClr val="15202E"/>
                </a:solidFill>
                <a:latin typeface="IBM Plex Sans" pitchFamily="34" charset="0"/>
                <a:ea typeface="IBM Plex Sans" pitchFamily="34" charset="-122"/>
                <a:cs typeface="IBM Plex Sans" pitchFamily="34" charset="-120"/>
              </a:rPr>
              <a:t>Look-alikes</a:t>
            </a:r>
            <a:r>
              <a:rPr lang="en-US" sz="1400" dirty="0">
                <a:solidFill>
                  <a:srgbClr val="15202E"/>
                </a:solidFill>
                <a:latin typeface="IBM Plex Sans" pitchFamily="34" charset="0"/>
                <a:ea typeface="IBM Plex Sans" pitchFamily="34" charset="-122"/>
                <a:cs typeface="IBM Plex Sans" pitchFamily="34" charset="-120"/>
              </a:rPr>
              <a:t> – dark jackets everywhere</a:t>
            </a:r>
            <a:endParaRPr lang="en-US" sz="1400" dirty="0"/>
          </a:p>
        </p:txBody>
      </p:sp>
      <p:sp>
        <p:nvSpPr>
          <p:cNvPr id="7" name="Text 5"/>
          <p:cNvSpPr/>
          <p:nvPr/>
        </p:nvSpPr>
        <p:spPr>
          <a:xfrm>
            <a:off x="815975" y="4043297"/>
            <a:ext cx="4946650" cy="496094"/>
          </a:xfrm>
          <a:prstGeom prst="roundRect">
            <a:avLst>
              <a:gd name="adj" fmla="val 14720"/>
            </a:avLst>
          </a:prstGeom>
          <a:solidFill>
            <a:srgbClr val="FFFFFF"/>
          </a:solidFill>
          <a:ln w="6350">
            <a:solidFill>
              <a:srgbClr val="E2DED5"/>
            </a:solidFill>
            <a:prstDash val="solid"/>
          </a:ln>
        </p:spPr>
        <p:txBody>
          <a:bodyPr wrap="square" lIns="157470" tIns="106670" rIns="19802" bIns="81270" rtlCol="0" anchor="t">
            <a:normAutofit/>
          </a:bodyPr>
          <a:lstStyle/>
          <a:p>
            <a:pPr algn="l" indent="0" marL="0">
              <a:lnSpc>
                <a:spcPts val="1890"/>
              </a:lnSpc>
              <a:buNone/>
            </a:pPr>
            <a:r>
              <a:rPr lang="en-US" sz="1400" b="1" dirty="0">
                <a:solidFill>
                  <a:srgbClr val="15202E"/>
                </a:solidFill>
                <a:latin typeface="IBM Plex Sans" pitchFamily="34" charset="0"/>
                <a:ea typeface="IBM Plex Sans" pitchFamily="34" charset="-122"/>
                <a:cs typeface="IBM Plex Sans" pitchFamily="34" charset="-120"/>
              </a:rPr>
              <a:t>Leaving</a:t>
            </a:r>
            <a:r>
              <a:rPr lang="en-US" sz="1400" dirty="0">
                <a:solidFill>
                  <a:srgbClr val="15202E"/>
                </a:solidFill>
                <a:latin typeface="IBM Plex Sans" pitchFamily="34" charset="0"/>
                <a:ea typeface="IBM Plex Sans" pitchFamily="34" charset="-122"/>
                <a:cs typeface="IBM Plex Sans" pitchFamily="34" charset="-120"/>
              </a:rPr>
              <a:t> – an ID must not jump to a newcomer</a:t>
            </a:r>
            <a:endParaRPr lang="en-US" sz="1400" dirty="0"/>
          </a:p>
        </p:txBody>
      </p:sp>
      <p:sp>
        <p:nvSpPr>
          <p:cNvPr id="8" name="Shape 6"/>
          <p:cNvSpPr/>
          <p:nvPr/>
        </p:nvSpPr>
        <p:spPr>
          <a:xfrm>
            <a:off x="6172200" y="1879534"/>
            <a:ext cx="5207000" cy="2927350"/>
          </a:xfrm>
          <a:prstGeom prst="roundRect">
            <a:avLst>
              <a:gd name="adj" fmla="val 2603"/>
            </a:avLst>
          </a:prstGeom>
          <a:solidFill>
            <a:srgbClr val="15202E"/>
          </a:solidFill>
          <a:ln/>
        </p:spPr>
      </p:sp>
      <p:pic>
        <p:nvPicPr>
          <p:cNvPr id="9" name="Image 0" descr="Frame 320 of MOT16-01 with an early tracker: the red target trail makes a sharp L-shaped jump to another person">    </p:cNvPr>
          <p:cNvPicPr>
            <a:picLocks noChangeAspect="1"/>
          </p:cNvPicPr>
          <p:nvPr/>
        </p:nvPicPr>
        <p:blipFill>
          <a:blip r:embed="rId1"/>
          <a:srcRect l="0" r="0" t="-1" b="-1"/>
          <a:stretch/>
        </p:blipFill>
        <p:spPr>
          <a:xfrm>
            <a:off x="6172200" y="1879534"/>
            <a:ext cx="5207000" cy="2927350"/>
          </a:xfrm>
          <a:prstGeom prst="roundRect">
            <a:avLst>
              <a:gd name="adj" fmla="val 2603"/>
            </a:avLst>
          </a:prstGeom>
        </p:spPr>
      </p:pic>
      <p:sp>
        <p:nvSpPr>
          <p:cNvPr id="10" name="Text 7"/>
          <p:cNvSpPr/>
          <p:nvPr/>
        </p:nvSpPr>
        <p:spPr>
          <a:xfrm>
            <a:off x="6172200" y="4908484"/>
            <a:ext cx="536321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363"/>
                </a:solidFill>
                <a:latin typeface="IBM Plex Sans" pitchFamily="34" charset="0"/>
                <a:ea typeface="IBM Plex Sans" pitchFamily="34" charset="-122"/>
                <a:cs typeface="IBM Plex Sans" pitchFamily="34" charset="-120"/>
              </a:rPr>
              <a:t>Our first prototype on MOT16-01: the red trail jumps to another person. That is an </a:t>
            </a:r>
            <a:r>
              <a:rPr lang="en-US" sz="1200" b="1" dirty="0">
                <a:solidFill>
                  <a:srgbClr val="4A5363"/>
                </a:solidFill>
                <a:latin typeface="IBM Plex Sans" pitchFamily="34" charset="0"/>
                <a:ea typeface="IBM Plex Sans" pitchFamily="34" charset="-122"/>
                <a:cs typeface="IBM Plex Sans" pitchFamily="34" charset="-120"/>
              </a:rPr>
              <a:t>ID switch</a:t>
            </a:r>
            <a:r>
              <a:rPr lang="en-US" sz="1200" dirty="0">
                <a:solidFill>
                  <a:srgbClr val="4A5363"/>
                </a:solidFill>
                <a:latin typeface="IBM Plex Sans" pitchFamily="34" charset="0"/>
                <a:ea typeface="IBM Plex Sans" pitchFamily="34" charset="-122"/>
                <a:cs typeface="IBM Plex Sans" pitchFamily="34" charset="-120"/>
              </a:rPr>
              <a:t>, exactly what we must avoid.</a:t>
            </a:r>
            <a:endParaRPr lang="en-US" sz="1200" dirty="0"/>
          </a:p>
        </p:txBody>
      </p:sp>
      <p:sp>
        <p:nvSpPr>
          <p:cNvPr id="11"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pitchFamily="34" charset="0"/>
                <a:ea typeface="IBM Plex Sans" pitchFamily="34" charset="-122"/>
                <a:cs typeface="IBM Plex Sans" pitchFamily="34" charset="-120"/>
              </a:rPr>
              <a:t>Bosia N’dri · 2</a:t>
            </a:r>
            <a:endParaRPr lang="en-US" sz="1200" dirty="0"/>
          </a:p>
        </p:txBody>
      </p:sp>
      <p:sp>
        <p:nvSpPr>
          <p:cNvPr id="12" name="Text 2"/>
          <p:cNvSpPr/>
          <p:nvPr/>
        </p:nvSpPr>
        <p:spPr>
          <a:xfrm>
            <a:off x="812800" y="4892040"/>
            <a:ext cx="5120640" cy="54864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363"/>
                </a:solidFill>
                <a:latin typeface="IBM Plex Sans" pitchFamily="34" charset="0"/>
                <a:ea typeface="IBM Plex Sans" pitchFamily="34" charset="-122"/>
                <a:cs typeface="IBM Plex Sans" pitchFamily="34" charset="-120"/>
              </a:rPr>
              <a:t>Today: workload · timeline · progress · methods · demo</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5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8A4B"/>
                </a:solidFill>
                <a:latin typeface="IBM Plex Sans" pitchFamily="34" charset="0"/>
                <a:ea typeface="IBM Plex Sans" pitchFamily="34" charset="-122"/>
                <a:cs typeface="IBM Plex Sans" pitchFamily="34" charset="-120"/>
              </a:rPr>
              <a:t>4 · METHODOLOGY · PIPELINE A</a:t>
            </a:r>
            <a:endParaRPr lang="en-US" sz="1200" dirty="0"/>
          </a:p>
        </p:txBody>
      </p:sp>
      <p:sp>
        <p:nvSpPr>
          <p:cNvPr id="3" name="Text 1"/>
          <p:cNvSpPr/>
          <p:nvPr>
            <p:ph type="title"/>
          </p:nvPr>
        </p:nvSpPr>
        <p:spPr>
          <a:xfrm>
            <a:off x="812800" y="12801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4EF"/>
                </a:solidFill>
                <a:latin typeface="Space Grotesk" pitchFamily="34" charset="0"/>
                <a:ea typeface="Space Grotesk" pitchFamily="34" charset="-122"/>
                <a:cs typeface="Space Grotesk" pitchFamily="34" charset="-120"/>
              </a:rPr>
              <a:t>Two trained models, one designed tracker</a:t>
            </a:r>
            <a:endParaRPr lang="en-US" sz="3200" dirty="0"/>
          </a:p>
        </p:txBody>
      </p:sp>
      <p:sp>
        <p:nvSpPr>
          <p:cNvPr id="4" name="Shape 2"/>
          <p:cNvSpPr/>
          <p:nvPr/>
        </p:nvSpPr>
        <p:spPr>
          <a:xfrm>
            <a:off x="815975" y="2082933"/>
            <a:ext cx="2101850" cy="858044"/>
          </a:xfrm>
          <a:prstGeom prst="roundRect">
            <a:avLst>
              <a:gd name="adj" fmla="val 11471"/>
            </a:avLst>
          </a:prstGeom>
          <a:solidFill>
            <a:srgbClr val="22324A"/>
          </a:solidFill>
          <a:ln w="6350">
            <a:solidFill>
              <a:srgbClr val="3A4E6B"/>
            </a:solidFill>
            <a:prstDash val="solid"/>
          </a:ln>
        </p:spPr>
      </p:sp>
      <p:sp>
        <p:nvSpPr>
          <p:cNvPr id="5" name="Text 3"/>
          <p:cNvSpPr/>
          <p:nvPr/>
        </p:nvSpPr>
        <p:spPr>
          <a:xfrm>
            <a:off x="994833" y="2261791"/>
            <a:ext cx="179645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F"/>
                </a:solidFill>
                <a:latin typeface="IBM Plex Sans" pitchFamily="34" charset="0"/>
                <a:ea typeface="IBM Plex Sans" pitchFamily="34" charset="-122"/>
                <a:cs typeface="IBM Plex Sans" pitchFamily="34" charset="-120"/>
              </a:rPr>
              <a:t>Video frame</a:t>
            </a:r>
            <a:endParaRPr lang="en-US" sz="1600" dirty="0"/>
          </a:p>
        </p:txBody>
      </p:sp>
      <p:sp>
        <p:nvSpPr>
          <p:cNvPr id="6" name="Text 4"/>
          <p:cNvSpPr/>
          <p:nvPr/>
        </p:nvSpPr>
        <p:spPr>
          <a:xfrm>
            <a:off x="994833" y="2556405"/>
            <a:ext cx="1796457"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2DC"/>
                </a:solidFill>
                <a:latin typeface="IBM Plex Sans" pitchFamily="34" charset="0"/>
                <a:ea typeface="IBM Plex Sans" pitchFamily="34" charset="-122"/>
                <a:cs typeface="IBM Plex Sans" pitchFamily="34" charset="-120"/>
              </a:rPr>
              <a:t>1920×1080, 30 fps</a:t>
            </a:r>
            <a:endParaRPr lang="en-US" sz="1200" dirty="0"/>
          </a:p>
        </p:txBody>
      </p:sp>
      <p:pic>
        <p:nvPicPr>
          <p:cNvPr id="7" name="Image 0" descr="arrow-right">    </p:cNvPr>
          <p:cNvPicPr>
            <a:picLocks noChangeAspect="1"/>
          </p:cNvPicPr>
          <p:nvPr/>
        </p:nvPicPr>
        <p:blipFill>
          <a:blip r:embed="rId1"/>
          <a:srcRect l="0" r="0" t="0" b="0"/>
          <a:stretch/>
        </p:blipFill>
        <p:spPr>
          <a:xfrm>
            <a:off x="3073400" y="2410355"/>
            <a:ext cx="406400" cy="203200"/>
          </a:xfrm>
          <a:prstGeom prst="rect">
            <a:avLst/>
          </a:prstGeom>
        </p:spPr>
      </p:pic>
      <p:sp>
        <p:nvSpPr>
          <p:cNvPr id="8" name="Shape 5"/>
          <p:cNvSpPr/>
          <p:nvPr/>
        </p:nvSpPr>
        <p:spPr>
          <a:xfrm>
            <a:off x="3632200" y="2083991"/>
            <a:ext cx="2108200" cy="855927"/>
          </a:xfrm>
          <a:prstGeom prst="roundRect">
            <a:avLst>
              <a:gd name="adj" fmla="val 11870"/>
            </a:avLst>
          </a:prstGeom>
          <a:solidFill>
            <a:srgbClr val="F6F4EF"/>
          </a:solidFill>
          <a:ln/>
        </p:spPr>
      </p:sp>
      <p:sp>
        <p:nvSpPr>
          <p:cNvPr id="9" name="Text 6"/>
          <p:cNvSpPr/>
          <p:nvPr/>
        </p:nvSpPr>
        <p:spPr>
          <a:xfrm>
            <a:off x="3810000" y="2261791"/>
            <a:ext cx="1805178"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02E"/>
                </a:solidFill>
                <a:latin typeface="IBM Plex Sans" pitchFamily="34" charset="0"/>
                <a:ea typeface="IBM Plex Sans" pitchFamily="34" charset="-122"/>
                <a:cs typeface="IBM Plex Sans" pitchFamily="34" charset="-120"/>
              </a:rPr>
              <a:t>Faster R-CNN</a:t>
            </a:r>
            <a:endParaRPr lang="en-US" sz="1600" dirty="0"/>
          </a:p>
        </p:txBody>
      </p:sp>
      <p:sp>
        <p:nvSpPr>
          <p:cNvPr id="10" name="Text 7"/>
          <p:cNvSpPr/>
          <p:nvPr/>
        </p:nvSpPr>
        <p:spPr>
          <a:xfrm>
            <a:off x="3810000" y="2556405"/>
            <a:ext cx="1930400"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363"/>
                </a:solidFill>
                <a:latin typeface="IBM Plex Sans" pitchFamily="34" charset="0"/>
                <a:ea typeface="IBM Plex Sans" pitchFamily="34" charset="-122"/>
                <a:cs typeface="IBM Plex Sans" pitchFamily="34" charset="-120"/>
              </a:rPr>
              <a:t>two-stage detector</a:t>
            </a:r>
            <a:endParaRPr lang="en-US" sz="1200" dirty="0"/>
          </a:p>
        </p:txBody>
      </p:sp>
      <p:pic>
        <p:nvPicPr>
          <p:cNvPr id="11" name="Image 1" descr="arrow-right">    </p:cNvPr>
          <p:cNvPicPr>
            <a:picLocks noChangeAspect="1"/>
          </p:cNvPicPr>
          <p:nvPr/>
        </p:nvPicPr>
        <p:blipFill>
          <a:blip r:embed="rId2"/>
          <a:srcRect l="0" r="0" t="0" b="0"/>
          <a:stretch/>
        </p:blipFill>
        <p:spPr>
          <a:xfrm>
            <a:off x="5892800" y="2410355"/>
            <a:ext cx="406400" cy="203200"/>
          </a:xfrm>
          <a:prstGeom prst="rect">
            <a:avLst/>
          </a:prstGeom>
        </p:spPr>
      </p:pic>
      <p:sp>
        <p:nvSpPr>
          <p:cNvPr id="12" name="Shape 8"/>
          <p:cNvSpPr/>
          <p:nvPr/>
        </p:nvSpPr>
        <p:spPr>
          <a:xfrm>
            <a:off x="6451600" y="1981135"/>
            <a:ext cx="2108200" cy="1061641"/>
          </a:xfrm>
          <a:prstGeom prst="roundRect">
            <a:avLst>
              <a:gd name="adj" fmla="val 9570"/>
            </a:avLst>
          </a:prstGeom>
          <a:solidFill>
            <a:srgbClr val="F6F4EF"/>
          </a:solidFill>
          <a:ln/>
        </p:spPr>
      </p:sp>
      <p:sp>
        <p:nvSpPr>
          <p:cNvPr id="13" name="Text 9"/>
          <p:cNvSpPr/>
          <p:nvPr/>
        </p:nvSpPr>
        <p:spPr>
          <a:xfrm>
            <a:off x="6629400" y="2158935"/>
            <a:ext cx="1805178"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02E"/>
                </a:solidFill>
                <a:latin typeface="IBM Plex Sans" pitchFamily="34" charset="0"/>
                <a:ea typeface="IBM Plex Sans" pitchFamily="34" charset="-122"/>
                <a:cs typeface="IBM Plex Sans" pitchFamily="34" charset="-120"/>
              </a:rPr>
              <a:t>Siamese Re-ID</a:t>
            </a:r>
            <a:endParaRPr lang="en-US" sz="1600" dirty="0"/>
          </a:p>
        </p:txBody>
      </p:sp>
      <p:sp>
        <p:nvSpPr>
          <p:cNvPr id="14" name="Text 10"/>
          <p:cNvSpPr/>
          <p:nvPr/>
        </p:nvSpPr>
        <p:spPr>
          <a:xfrm>
            <a:off x="6629400" y="2453548"/>
            <a:ext cx="1805178"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363"/>
                </a:solidFill>
                <a:latin typeface="IBM Plex Sans" pitchFamily="34" charset="0"/>
                <a:ea typeface="IBM Plex Sans" pitchFamily="34" charset="-122"/>
                <a:cs typeface="IBM Plex Sans" pitchFamily="34" charset="-120"/>
              </a:rPr>
              <a:t>128 numbers per person</a:t>
            </a:r>
            <a:endParaRPr lang="en-US" sz="1200" dirty="0"/>
          </a:p>
        </p:txBody>
      </p:sp>
      <p:pic>
        <p:nvPicPr>
          <p:cNvPr id="15" name="Image 2" descr="arrow-right">    </p:cNvPr>
          <p:cNvPicPr>
            <a:picLocks noChangeAspect="1"/>
          </p:cNvPicPr>
          <p:nvPr/>
        </p:nvPicPr>
        <p:blipFill>
          <a:blip r:embed="rId3"/>
          <a:srcRect l="0" r="0" t="0" b="0"/>
          <a:stretch/>
        </p:blipFill>
        <p:spPr>
          <a:xfrm>
            <a:off x="8712200" y="2410355"/>
            <a:ext cx="406400" cy="203200"/>
          </a:xfrm>
          <a:prstGeom prst="rect">
            <a:avLst/>
          </a:prstGeom>
        </p:spPr>
      </p:pic>
      <p:sp>
        <p:nvSpPr>
          <p:cNvPr id="16" name="Shape 11"/>
          <p:cNvSpPr/>
          <p:nvPr/>
        </p:nvSpPr>
        <p:spPr>
          <a:xfrm>
            <a:off x="9271000" y="2083991"/>
            <a:ext cx="2108200" cy="855927"/>
          </a:xfrm>
          <a:prstGeom prst="roundRect">
            <a:avLst>
              <a:gd name="adj" fmla="val 11870"/>
            </a:avLst>
          </a:prstGeom>
          <a:solidFill>
            <a:srgbClr val="F08A4B"/>
          </a:solidFill>
          <a:ln/>
        </p:spPr>
      </p:sp>
      <p:sp>
        <p:nvSpPr>
          <p:cNvPr id="17" name="Text 12"/>
          <p:cNvSpPr/>
          <p:nvPr/>
        </p:nvSpPr>
        <p:spPr>
          <a:xfrm>
            <a:off x="9448800" y="2261791"/>
            <a:ext cx="1805178"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02E"/>
                </a:solidFill>
                <a:latin typeface="IBM Plex Sans" pitchFamily="34" charset="0"/>
                <a:ea typeface="IBM Plex Sans" pitchFamily="34" charset="-122"/>
                <a:cs typeface="IBM Plex Sans" pitchFamily="34" charset="-120"/>
              </a:rPr>
              <a:t>Tracker</a:t>
            </a:r>
            <a:endParaRPr lang="en-US" sz="1600" dirty="0"/>
          </a:p>
        </p:txBody>
      </p:sp>
      <p:sp>
        <p:nvSpPr>
          <p:cNvPr id="18" name="Text 13"/>
          <p:cNvSpPr/>
          <p:nvPr/>
        </p:nvSpPr>
        <p:spPr>
          <a:xfrm>
            <a:off x="9448800" y="2556405"/>
            <a:ext cx="1805178"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5202E"/>
                </a:solidFill>
                <a:latin typeface="IBM Plex Sans" pitchFamily="34" charset="0"/>
                <a:ea typeface="IBM Plex Sans" pitchFamily="34" charset="-122"/>
                <a:cs typeface="IBM Plex Sans" pitchFamily="34" charset="-120"/>
              </a:rPr>
              <a:t>Kalman + Hungarian</a:t>
            </a:r>
            <a:endParaRPr lang="en-US" sz="1200" dirty="0"/>
          </a:p>
        </p:txBody>
      </p:sp>
      <p:sp>
        <p:nvSpPr>
          <p:cNvPr id="19" name="Shape 14"/>
          <p:cNvSpPr/>
          <p:nvPr/>
        </p:nvSpPr>
        <p:spPr>
          <a:xfrm>
            <a:off x="812800" y="3306301"/>
            <a:ext cx="3386667" cy="0"/>
          </a:xfrm>
          <a:prstGeom prst="line">
            <a:avLst/>
          </a:prstGeom>
          <a:noFill/>
          <a:ln w="19050">
            <a:solidFill>
              <a:srgbClr val="F6F4EF"/>
            </a:solidFill>
            <a:prstDash val="solid"/>
          </a:ln>
        </p:spPr>
      </p:sp>
      <p:sp>
        <p:nvSpPr>
          <p:cNvPr id="20" name="Text 15"/>
          <p:cNvSpPr/>
          <p:nvPr/>
        </p:nvSpPr>
        <p:spPr>
          <a:xfrm>
            <a:off x="812800" y="3466108"/>
            <a:ext cx="348826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F"/>
                </a:solidFill>
                <a:latin typeface="IBM Plex Sans" pitchFamily="34" charset="0"/>
                <a:ea typeface="IBM Plex Sans" pitchFamily="34" charset="-122"/>
                <a:cs typeface="IBM Plex Sans" pitchFamily="34" charset="-120"/>
              </a:rPr>
              <a:t>Where are people?</a:t>
            </a:r>
            <a:endParaRPr lang="en-US" sz="1600" dirty="0"/>
          </a:p>
        </p:txBody>
      </p:sp>
      <p:sp>
        <p:nvSpPr>
          <p:cNvPr id="21" name="Text 16"/>
          <p:cNvSpPr/>
          <p:nvPr/>
        </p:nvSpPr>
        <p:spPr>
          <a:xfrm>
            <a:off x="812800" y="3786122"/>
            <a:ext cx="348826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DC"/>
                </a:solidFill>
                <a:latin typeface="IBM Plex Sans" pitchFamily="34" charset="0"/>
                <a:ea typeface="IBM Plex Sans" pitchFamily="34" charset="-122"/>
                <a:cs typeface="IBM Plex Sans" pitchFamily="34" charset="-120"/>
              </a:rPr>
              <a:t>Region proposals, then classification. COCO weights, 2 classes, backbone frozen (16.4 M of 43.3 M trained), 4 epochs.</a:t>
            </a:r>
            <a:endParaRPr lang="en-US" sz="1300" dirty="0"/>
          </a:p>
        </p:txBody>
      </p:sp>
      <p:sp>
        <p:nvSpPr>
          <p:cNvPr id="22" name="Shape 17"/>
          <p:cNvSpPr/>
          <p:nvPr/>
        </p:nvSpPr>
        <p:spPr>
          <a:xfrm>
            <a:off x="4402667" y="3306301"/>
            <a:ext cx="3386667" cy="0"/>
          </a:xfrm>
          <a:prstGeom prst="line">
            <a:avLst/>
          </a:prstGeom>
          <a:noFill/>
          <a:ln w="19050">
            <a:solidFill>
              <a:srgbClr val="F6F4EF"/>
            </a:solidFill>
            <a:prstDash val="solid"/>
          </a:ln>
        </p:spPr>
      </p:sp>
      <p:sp>
        <p:nvSpPr>
          <p:cNvPr id="23" name="Text 18"/>
          <p:cNvSpPr/>
          <p:nvPr/>
        </p:nvSpPr>
        <p:spPr>
          <a:xfrm>
            <a:off x="4402667" y="3466108"/>
            <a:ext cx="348826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F"/>
                </a:solidFill>
                <a:latin typeface="IBM Plex Sans" pitchFamily="34" charset="0"/>
                <a:ea typeface="IBM Plex Sans" pitchFamily="34" charset="-122"/>
                <a:cs typeface="IBM Plex Sans" pitchFamily="34" charset="-120"/>
              </a:rPr>
              <a:t>Is this the same person?</a:t>
            </a:r>
            <a:endParaRPr lang="en-US" sz="1600" dirty="0"/>
          </a:p>
        </p:txBody>
      </p:sp>
      <p:sp>
        <p:nvSpPr>
          <p:cNvPr id="24" name="Text 19"/>
          <p:cNvSpPr/>
          <p:nvPr/>
        </p:nvSpPr>
        <p:spPr>
          <a:xfrm>
            <a:off x="4402667" y="3786122"/>
            <a:ext cx="348826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DC"/>
                </a:solidFill>
                <a:latin typeface="IBM Plex Sans" pitchFamily="34" charset="0"/>
                <a:ea typeface="IBM Plex Sans" pitchFamily="34" charset="-122"/>
                <a:cs typeface="IBM Plex Sans" pitchFamily="34" charset="-120"/>
              </a:rPr>
              <a:t>Same network for both crops (shared weights); triplet loss, margin 0.3; 20,146 crops of 362 people.</a:t>
            </a:r>
            <a:endParaRPr lang="en-US" sz="1300" dirty="0"/>
          </a:p>
        </p:txBody>
      </p:sp>
      <p:sp>
        <p:nvSpPr>
          <p:cNvPr id="25" name="Shape 20"/>
          <p:cNvSpPr/>
          <p:nvPr/>
        </p:nvSpPr>
        <p:spPr>
          <a:xfrm>
            <a:off x="7992534" y="3306301"/>
            <a:ext cx="3386667" cy="0"/>
          </a:xfrm>
          <a:prstGeom prst="line">
            <a:avLst/>
          </a:prstGeom>
          <a:noFill/>
          <a:ln w="19050">
            <a:solidFill>
              <a:srgbClr val="F08A4B"/>
            </a:solidFill>
            <a:prstDash val="solid"/>
          </a:ln>
        </p:spPr>
      </p:sp>
      <p:sp>
        <p:nvSpPr>
          <p:cNvPr id="26" name="Text 21"/>
          <p:cNvSpPr/>
          <p:nvPr/>
        </p:nvSpPr>
        <p:spPr>
          <a:xfrm>
            <a:off x="7992534" y="3466108"/>
            <a:ext cx="348826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08A4B"/>
                </a:solidFill>
                <a:latin typeface="IBM Plex Sans" pitchFamily="34" charset="0"/>
                <a:ea typeface="IBM Plex Sans" pitchFamily="34" charset="-122"/>
                <a:cs typeface="IBM Plex Sans" pitchFamily="34" charset="-120"/>
              </a:rPr>
              <a:t>Who goes where?</a:t>
            </a:r>
            <a:endParaRPr lang="en-US" sz="1600" dirty="0"/>
          </a:p>
        </p:txBody>
      </p:sp>
      <p:sp>
        <p:nvSpPr>
          <p:cNvPr id="27" name="Text 22"/>
          <p:cNvSpPr/>
          <p:nvPr/>
        </p:nvSpPr>
        <p:spPr>
          <a:xfrm>
            <a:off x="7992534" y="3786122"/>
            <a:ext cx="348826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DC"/>
                </a:solidFill>
                <a:latin typeface="IBM Plex Sans" pitchFamily="34" charset="0"/>
                <a:ea typeface="IBM Plex Sans" pitchFamily="34" charset="-122"/>
                <a:cs typeface="IBM Plex Sans" pitchFamily="34" charset="-120"/>
              </a:rPr>
              <a:t>Kalman predicts, Hungarian matches (0.6 look + 0.4 overlap), distance gate, two passes (0.7 / 0.6), offline rules.</a:t>
            </a:r>
            <a:endParaRPr lang="en-US" sz="1300" dirty="0"/>
          </a:p>
        </p:txBody>
      </p:sp>
      <p:sp>
        <p:nvSpPr>
          <p:cNvPr id="28" name="Text 2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7B6"/>
                </a:solidFill>
                <a:latin typeface="IBM Plex Sans" pitchFamily="34" charset="0"/>
                <a:ea typeface="IBM Plex Sans" pitchFamily="34" charset="-122"/>
                <a:cs typeface="IBM Plex Sans" pitchFamily="34" charset="-120"/>
              </a:rPr>
              <a:t>Rehan Ali · 7</a:t>
            </a:r>
            <a:endParaRPr lang="en-US" sz="1200" dirty="0"/>
          </a:p>
        </p:txBody>
      </p:sp>
      <p:sp>
        <p:nvSpPr>
          <p:cNvPr id="29" name="Text 15"/>
          <p:cNvSpPr/>
          <p:nvPr/>
        </p:nvSpPr>
        <p:spPr>
          <a:xfrm>
            <a:off x="813816" y="4709160"/>
            <a:ext cx="10424160" cy="27432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F"/>
                </a:solidFill>
                <a:latin typeface="IBM Plex Sans" pitchFamily="34" charset="0"/>
                <a:ea typeface="IBM Plex Sans" pitchFamily="34" charset="-122"/>
                <a:cs typeface="IBM Plex Sans" pitchFamily="34" charset="-120"/>
              </a:rPr>
              <a:t>Code</a:t>
            </a:r>
            <a:endParaRPr lang="en-US" sz="1600" dirty="0"/>
          </a:p>
        </p:txBody>
      </p:sp>
      <p:sp>
        <p:nvSpPr>
          <p:cNvPr id="30" name="Text 16"/>
          <p:cNvSpPr/>
          <p:nvPr/>
        </p:nvSpPr>
        <p:spPr>
          <a:xfrm>
            <a:off x="813816" y="5029200"/>
            <a:ext cx="10424160" cy="5486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DC"/>
                </a:solidFill>
                <a:latin typeface="IBM Plex Sans" pitchFamily="34" charset="0"/>
                <a:ea typeface="IBM Plex Sans" pitchFamily="34" charset="-122"/>
                <a:cs typeface="IBM Plex Sans" pitchFamily="34" charset="-120"/>
              </a:rPr>
              <a:t>Our own code: the tracker, the ReID training and the metric code. Library: the torchvision detector.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501F"/>
                </a:solidFill>
                <a:latin typeface="IBM Plex Sans" pitchFamily="34" charset="0"/>
                <a:ea typeface="IBM Plex Sans" pitchFamily="34" charset="-122"/>
                <a:cs typeface="IBM Plex Sans" pitchFamily="34" charset="-120"/>
              </a:rPr>
              <a:t>4 · METHODOLOGY · DATA AND EVALUATION</a:t>
            </a:r>
            <a:endParaRPr lang="en-US" sz="1200" dirty="0"/>
          </a:p>
        </p:txBody>
      </p:sp>
      <p:sp>
        <p:nvSpPr>
          <p:cNvPr id="3" name="Text 1"/>
          <p:cNvSpPr/>
          <p:nvPr>
            <p:ph type="title"/>
          </p:nvPr>
        </p:nvSpPr>
        <p:spPr>
          <a:xfrm>
            <a:off x="812800" y="1229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02E"/>
                </a:solidFill>
                <a:latin typeface="Space Grotesk" pitchFamily="34" charset="0"/>
                <a:ea typeface="Space Grotesk" pitchFamily="34" charset="-122"/>
                <a:cs typeface="Space Grotesk" pitchFamily="34" charset="-120"/>
              </a:rPr>
              <a:t>MOT16 and how we score it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35"/>
          <a:ext cx="5448300" cy="2993827"/>
        </p:xfrm>
        <a:graphic>
          <a:graphicData uri="http://schemas.openxmlformats.org/drawingml/2006/table">
            <a:tbl>
              <a:tblPr/>
              <a:tblGrid>
                <a:gridCol w="1525524"/>
                <a:gridCol w="871728"/>
                <a:gridCol w="871728"/>
                <a:gridCol w="871728"/>
                <a:gridCol w="1307592"/>
              </a:tblGrid>
              <a:tr h="332647">
                <a:tc>
                  <a:txBody>
                    <a:bodyPr/>
                    <a:lstStyle/>
                    <a:p>
                      <a:pPr indent="0" marL="0">
                        <a:lnSpc>
                          <a:spcPts val="1680"/>
                        </a:lnSpc>
                        <a:buNone/>
                      </a:pPr>
                      <a:r>
                        <a:rPr lang="en-US" sz="1200" b="1" dirty="0">
                          <a:solidFill>
                            <a:srgbClr val="15202E"/>
                          </a:solidFill>
                          <a:latin typeface="IBM Plex Sans" pitchFamily="34" charset="0"/>
                          <a:ea typeface="IBM Plex Sans" pitchFamily="34" charset="-122"/>
                          <a:cs typeface="IBM Plex Sans" pitchFamily="34" charset="-120"/>
                        </a:rPr>
                        <a:t>Sequence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algn="r" indent="0" marL="0">
                        <a:lnSpc>
                          <a:spcPts val="1680"/>
                        </a:lnSpc>
                        <a:buNone/>
                      </a:pPr>
                      <a:r>
                        <a:rPr lang="en-US" sz="1200" b="1" dirty="0">
                          <a:solidFill>
                            <a:srgbClr val="15202E"/>
                          </a:solidFill>
                          <a:latin typeface="IBM Plex Sans" pitchFamily="34" charset="0"/>
                          <a:ea typeface="IBM Plex Sans" pitchFamily="34" charset="-122"/>
                          <a:cs typeface="IBM Plex Sans" pitchFamily="34" charset="-120"/>
                        </a:rPr>
                        <a:t>Frames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algn="r" indent="0" marL="0">
                        <a:lnSpc>
                          <a:spcPts val="1680"/>
                        </a:lnSpc>
                        <a:buNone/>
                      </a:pPr>
                      <a:r>
                        <a:rPr lang="en-US" sz="1200" b="1" dirty="0">
                          <a:solidFill>
                            <a:srgbClr val="15202E"/>
                          </a:solidFill>
                          <a:latin typeface="IBM Plex Sans" pitchFamily="34" charset="0"/>
                          <a:ea typeface="IBM Plex Sans" pitchFamily="34" charset="-122"/>
                          <a:cs typeface="IBM Plex Sans" pitchFamily="34" charset="-120"/>
                        </a:rPr>
                        <a:t>People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algn="r" indent="0" marL="0">
                        <a:lnSpc>
                          <a:spcPts val="1680"/>
                        </a:lnSpc>
                        <a:buNone/>
                      </a:pPr>
                      <a:r>
                        <a:rPr lang="en-US" sz="1200" b="1" dirty="0">
                          <a:solidFill>
                            <a:srgbClr val="15202E"/>
                          </a:solidFill>
                          <a:latin typeface="IBM Plex Sans" pitchFamily="34" charset="0"/>
                          <a:ea typeface="IBM Plex Sans" pitchFamily="34" charset="-122"/>
                          <a:cs typeface="IBM Plex Sans" pitchFamily="34" charset="-120"/>
                        </a:rPr>
                        <a:t>Boxes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680"/>
                        </a:lnSpc>
                        <a:buNone/>
                      </a:pPr>
                      <a:r>
                        <a:rPr lang="en-US" sz="1200" b="1" dirty="0">
                          <a:solidFill>
                            <a:srgbClr val="15202E"/>
                          </a:solidFill>
                          <a:latin typeface="IBM Plex Sans" pitchFamily="34" charset="0"/>
                          <a:ea typeface="IBM Plex Sans" pitchFamily="34" charset="-122"/>
                          <a:cs typeface="IBM Plex Sans" pitchFamily="34" charset="-120"/>
                        </a:rPr>
                        <a:t>Use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r>
              <a:tr h="332647">
                <a:tc>
                  <a:txBody>
                    <a:bodyPr/>
                    <a:lstStyle/>
                    <a:p>
                      <a:pP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MOT16-02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600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54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17,833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train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2647">
                <a:tc>
                  <a:txBody>
                    <a:bodyPr/>
                    <a:lstStyle/>
                    <a:p>
                      <a:pP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MOT16-04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1,050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83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47,557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train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2647">
                <a:tc>
                  <a:txBody>
                    <a:bodyPr/>
                    <a:lstStyle/>
                    <a:p>
                      <a:pP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MOT16-05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837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125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6,818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train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2647">
                <a:tc>
                  <a:txBody>
                    <a:bodyPr/>
                    <a:lstStyle/>
                    <a:p>
                      <a:pP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MOT16-10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654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54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12,318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train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2647">
                <a:tc>
                  <a:txBody>
                    <a:bodyPr/>
                    <a:lstStyle/>
                    <a:p>
                      <a:pP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MOT16-11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900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69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9,174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train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2647">
                <a:tc>
                  <a:txBody>
                    <a:bodyPr/>
                    <a:lstStyle/>
                    <a:p>
                      <a:pP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MOT16-13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750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107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11,450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train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2647">
                <a:tc>
                  <a:txBody>
                    <a:bodyPr/>
                    <a:lstStyle/>
                    <a:p>
                      <a:pP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MOT16-09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8B8AE"/>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8AE"/>
                      </a:solidFill>
                      <a:prstDash val="solid"/>
                      <a:round/>
                      <a:headEnd type="none" w="med" len="med"/>
                      <a:tailEnd type="none" w="med" len="med"/>
                    </a:lnB>
                    <a:solidFill>
                      <a:srgbClr val="FBE6DA"/>
                    </a:solidFill>
                  </a:tcPr>
                </a:tc>
                <a:tc>
                  <a:txBody>
                    <a:bodyPr/>
                    <a:lstStyle/>
                    <a:p>
                      <a:pPr algn="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525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B8AE"/>
                      </a:solidFill>
                      <a:prstDash val="solid"/>
                      <a:round/>
                      <a:headEnd type="none" w="med" len="med"/>
                      <a:tailEnd type="none" w="med" len="med"/>
                    </a:lnL>
                    <a:lnR w="12700" cap="flat" cmpd="sng" algn="ctr">
                      <a:solidFill>
                        <a:srgbClr val="C8B8AE"/>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8AE"/>
                      </a:solidFill>
                      <a:prstDash val="solid"/>
                      <a:round/>
                      <a:headEnd type="none" w="med" len="med"/>
                      <a:tailEnd type="none" w="med" len="med"/>
                    </a:lnB>
                    <a:solidFill>
                      <a:srgbClr val="FBE6DA"/>
                    </a:solidFill>
                  </a:tcPr>
                </a:tc>
                <a:tc>
                  <a:txBody>
                    <a:bodyPr/>
                    <a:lstStyle/>
                    <a:p>
                      <a:pPr algn="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25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B8AE"/>
                      </a:solidFill>
                      <a:prstDash val="solid"/>
                      <a:round/>
                      <a:headEnd type="none" w="med" len="med"/>
                      <a:tailEnd type="none" w="med" len="med"/>
                    </a:lnL>
                    <a:lnR w="12700" cap="flat" cmpd="sng" algn="ctr">
                      <a:solidFill>
                        <a:srgbClr val="C8B8AE"/>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8AE"/>
                      </a:solidFill>
                      <a:prstDash val="solid"/>
                      <a:round/>
                      <a:headEnd type="none" w="med" len="med"/>
                      <a:tailEnd type="none" w="med" len="med"/>
                    </a:lnB>
                    <a:solidFill>
                      <a:srgbClr val="FBE6DA"/>
                    </a:solidFill>
                  </a:tcPr>
                </a:tc>
                <a:tc>
                  <a:txBody>
                    <a:bodyPr/>
                    <a:lstStyle/>
                    <a:p>
                      <a:pPr algn="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5,257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B8AE"/>
                      </a:solidFill>
                      <a:prstDash val="solid"/>
                      <a:round/>
                      <a:headEnd type="none" w="med" len="med"/>
                      <a:tailEnd type="none" w="med" len="med"/>
                    </a:lnL>
                    <a:lnR w="12700" cap="flat" cmpd="sng" algn="ctr">
                      <a:solidFill>
                        <a:srgbClr val="C8B8AE"/>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8AE"/>
                      </a:solidFill>
                      <a:prstDash val="solid"/>
                      <a:round/>
                      <a:headEnd type="none" w="med" len="med"/>
                      <a:tailEnd type="none" w="med" len="med"/>
                    </a:lnB>
                    <a:solidFill>
                      <a:srgbClr val="FBE6DA"/>
                    </a:solidFill>
                  </a:tcPr>
                </a:tc>
                <a:tc>
                  <a:txBody>
                    <a:bodyPr/>
                    <a:lstStyle/>
                    <a:p>
                      <a:pP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validation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B8AE"/>
                      </a:solidFill>
                      <a:prstDash val="solid"/>
                      <a:round/>
                      <a:headEnd type="none" w="med" len="med"/>
                      <a:tailEnd type="none" w="med" len="med"/>
                    </a:lnL>
                    <a:lnR w="12700" cap="flat" cmpd="sng" algn="ctr">
                      <a:solidFill>
                        <a:srgbClr val="C8B8AE"/>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8AE"/>
                      </a:solidFill>
                      <a:prstDash val="solid"/>
                      <a:round/>
                      <a:headEnd type="none" w="med" len="med"/>
                      <a:tailEnd type="none" w="med" len="med"/>
                    </a:lnB>
                    <a:solidFill>
                      <a:srgbClr val="FBE6DA"/>
                    </a:solidFill>
                  </a:tcPr>
                </a:tc>
              </a:tr>
              <a:tr h="332647">
                <a:tc>
                  <a:txBody>
                    <a:bodyPr/>
                    <a:lstStyle/>
                    <a:p>
                      <a:pP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MOT16-01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8B8AE"/>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algn="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450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8B8AE"/>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algn="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8B8AE"/>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algn="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no labels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8B8AE"/>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indent="0" marL="0">
                        <a:lnSpc>
                          <a:spcPts val="1680"/>
                        </a:lnSpc>
                        <a:buNone/>
                      </a:pPr>
                      <a:r>
                        <a:rPr lang="en-US" sz="1200" dirty="0">
                          <a:solidFill>
                            <a:srgbClr val="15202E"/>
                          </a:solidFill>
                          <a:latin typeface="IBM Plex Sans" pitchFamily="34" charset="0"/>
                          <a:ea typeface="IBM Plex Sans" pitchFamily="34" charset="-122"/>
                          <a:cs typeface="IBM Plex Sans" pitchFamily="34" charset="-120"/>
                        </a:rPr>
                        <a:t>test video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8B8AE"/>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r>
            </a:tbl>
          </a:graphicData>
        </a:graphic>
      </p:graphicFrame>
      <p:sp>
        <p:nvSpPr>
          <p:cNvPr id="5" name="Text 2"/>
          <p:cNvSpPr/>
          <p:nvPr/>
        </p:nvSpPr>
        <p:spPr>
          <a:xfrm>
            <a:off x="812800" y="5013061"/>
            <a:ext cx="5624830" cy="10058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pitchFamily="34" charset="0"/>
                <a:ea typeface="IBM Plex Sans" pitchFamily="34" charset="-122"/>
                <a:cs typeface="IBM Plex Sans" pitchFamily="34" charset="-120"/>
              </a:rPr>
              <a:t>We split by whole video, not by random frames (neighbouring frames are near-identical). Scores: TrackEval. HOTA = finding people (DetA) + linking them (AssA); IDF1 = how long each person keeps one ID; MOTA mostly counts misses and false boxes.</a:t>
            </a:r>
            <a:endParaRPr lang="en-US" sz="1300" dirty="0"/>
          </a:p>
        </p:txBody>
      </p:sp>
      <p:sp>
        <p:nvSpPr>
          <p:cNvPr id="6" name="Shape 3"/>
          <p:cNvSpPr/>
          <p:nvPr/>
        </p:nvSpPr>
        <p:spPr>
          <a:xfrm>
            <a:off x="6629400" y="1879535"/>
            <a:ext cx="4749800" cy="2800350"/>
          </a:xfrm>
          <a:prstGeom prst="roundRect">
            <a:avLst>
              <a:gd name="adj" fmla="val 2721"/>
            </a:avLst>
          </a:prstGeom>
          <a:solidFill>
            <a:srgbClr val="FFFFFF"/>
          </a:solidFill>
          <a:ln/>
        </p:spPr>
      </p:sp>
      <p:pic>
        <p:nvPicPr>
          <p:cNvPr id="7" name="Image 0" descr="MOT16-09 frame 100 with ground-truth boxes and IDs on pedestrians in front of shops">    </p:cNvPr>
          <p:cNvPicPr>
            <a:picLocks noChangeAspect="1"/>
          </p:cNvPicPr>
          <p:nvPr/>
        </p:nvPicPr>
        <p:blipFill>
          <a:blip r:embed="rId1"/>
          <a:srcRect l="-40" r="-40" t="0" b="0"/>
          <a:stretch/>
        </p:blipFill>
        <p:spPr>
          <a:xfrm>
            <a:off x="6629400" y="1879535"/>
            <a:ext cx="4749800" cy="2800350"/>
          </a:xfrm>
          <a:prstGeom prst="roundRect">
            <a:avLst>
              <a:gd name="adj" fmla="val 2721"/>
            </a:avLst>
          </a:prstGeom>
        </p:spPr>
      </p:pic>
      <p:sp>
        <p:nvSpPr>
          <p:cNvPr id="8" name="Text 4"/>
          <p:cNvSpPr/>
          <p:nvPr/>
        </p:nvSpPr>
        <p:spPr>
          <a:xfrm>
            <a:off x="6629400" y="4781485"/>
            <a:ext cx="4892294"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363"/>
                </a:solidFill>
                <a:latin typeface="IBM Plex Sans" pitchFamily="34" charset="0"/>
                <a:ea typeface="IBM Plex Sans" pitchFamily="34" charset="-122"/>
                <a:cs typeface="IBM Plex Sans" pitchFamily="34" charset="-120"/>
              </a:rPr>
              <a:t>Ground truth = box + ID per person per frame. Reflections, static people, people on vehicles and distractors are “don’t care”.</a:t>
            </a:r>
            <a:endParaRPr lang="en-US" sz="1200" dirty="0"/>
          </a:p>
        </p:txBody>
      </p:sp>
      <p:sp>
        <p:nvSpPr>
          <p:cNvPr id="9"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pitchFamily="34" charset="0"/>
                <a:ea typeface="IBM Plex Sans" pitchFamily="34" charset="-122"/>
                <a:cs typeface="IBM Plex Sans" pitchFamily="34" charset="-120"/>
              </a:rPr>
              <a:t>Tony Nguyen · 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501F"/>
                </a:solidFill>
                <a:latin typeface="IBM Plex Sans" pitchFamily="34" charset="0"/>
                <a:ea typeface="IBM Plex Sans" pitchFamily="34" charset="-122"/>
                <a:cs typeface="IBM Plex Sans" pitchFamily="34" charset="-120"/>
              </a:rPr>
              <a:t>BACKUP · PIPELINE A · DATA PREPARATION</a:t>
            </a:r>
            <a:endParaRPr lang="en-US" sz="1200" dirty="0"/>
          </a:p>
        </p:txBody>
      </p:sp>
      <p:sp>
        <p:nvSpPr>
          <p:cNvPr id="3" name="Text 1"/>
          <p:cNvSpPr/>
          <p:nvPr>
            <p:ph type="title"/>
          </p:nvPr>
        </p:nvSpPr>
        <p:spPr>
          <a:xfrm>
            <a:off x="812800" y="1229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02E"/>
                </a:solidFill>
                <a:latin typeface="Space Grotesk" pitchFamily="34" charset="0"/>
                <a:ea typeface="Space Grotesk" pitchFamily="34" charset="-122"/>
                <a:cs typeface="Space Grotesk" pitchFamily="34" charset="-120"/>
              </a:rPr>
              <a:t>Two training sets from the same labels</a:t>
            </a:r>
            <a:endParaRPr lang="en-US" sz="3200" dirty="0"/>
          </a:p>
        </p:txBody>
      </p:sp>
      <p:sp>
        <p:nvSpPr>
          <p:cNvPr id="4" name="Text 2"/>
          <p:cNvSpPr/>
          <p:nvPr/>
        </p:nvSpPr>
        <p:spPr>
          <a:xfrm>
            <a:off x="812800" y="1879535"/>
            <a:ext cx="575564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202E"/>
                </a:solidFill>
                <a:latin typeface="IBM Plex Sans" pitchFamily="34" charset="0"/>
                <a:ea typeface="IBM Plex Sans" pitchFamily="34" charset="-122"/>
                <a:cs typeface="IBM Plex Sans" pitchFamily="34" charset="-120"/>
              </a:rPr>
              <a:t>For the detector: augmented frames</a:t>
            </a:r>
            <a:endParaRPr lang="en-US" sz="1800" dirty="0"/>
          </a:p>
        </p:txBody>
      </p:sp>
      <p:sp>
        <p:nvSpPr>
          <p:cNvPr id="5" name="Shape 3"/>
          <p:cNvSpPr/>
          <p:nvPr/>
        </p:nvSpPr>
        <p:spPr>
          <a:xfrm>
            <a:off x="812800" y="2255441"/>
            <a:ext cx="5588000" cy="3213100"/>
          </a:xfrm>
          <a:prstGeom prst="roundRect">
            <a:avLst>
              <a:gd name="adj" fmla="val 2372"/>
            </a:avLst>
          </a:prstGeom>
          <a:solidFill>
            <a:srgbClr val="FFFFFF"/>
          </a:solidFill>
          <a:ln/>
        </p:spPr>
      </p:sp>
      <p:pic>
        <p:nvPicPr>
          <p:cNvPr id="6" name="Image 0" descr="The same training frame shown four times with random flips, colour changes and blur; the boxes follow the flip">    </p:cNvPr>
          <p:cNvPicPr>
            <a:picLocks noChangeAspect="1"/>
          </p:cNvPicPr>
          <p:nvPr/>
        </p:nvPicPr>
        <p:blipFill>
          <a:blip r:embed="rId1"/>
          <a:srcRect l="0" r="0" t="-4" b="-4"/>
          <a:stretch/>
        </p:blipFill>
        <p:spPr>
          <a:xfrm>
            <a:off x="812800" y="2255441"/>
            <a:ext cx="5588000" cy="3213100"/>
          </a:xfrm>
          <a:prstGeom prst="roundRect">
            <a:avLst>
              <a:gd name="adj" fmla="val 2372"/>
            </a:avLst>
          </a:prstGeom>
        </p:spPr>
      </p:pic>
      <p:sp>
        <p:nvSpPr>
          <p:cNvPr id="7" name="Text 4"/>
          <p:cNvSpPr/>
          <p:nvPr/>
        </p:nvSpPr>
        <p:spPr>
          <a:xfrm>
            <a:off x="812800" y="5570141"/>
            <a:ext cx="5755640"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363"/>
                </a:solidFill>
                <a:latin typeface="IBM Plex Sans" pitchFamily="34" charset="0"/>
                <a:ea typeface="IBM Plex Sans" pitchFamily="34" charset="-122"/>
                <a:cs typeface="IBM Plex Sans" pitchFamily="34" charset="-120"/>
              </a:rPr>
              <a:t>2,396 frames · flip (boxes flip too), colour jitter, Gaussian blur</a:t>
            </a:r>
            <a:endParaRPr lang="en-US" sz="1200" dirty="0"/>
          </a:p>
        </p:txBody>
      </p:sp>
      <p:sp>
        <p:nvSpPr>
          <p:cNvPr id="8" name="Text 5"/>
          <p:cNvSpPr/>
          <p:nvPr/>
        </p:nvSpPr>
        <p:spPr>
          <a:xfrm>
            <a:off x="6756400" y="1879535"/>
            <a:ext cx="476148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202E"/>
                </a:solidFill>
                <a:latin typeface="IBM Plex Sans" pitchFamily="34" charset="0"/>
                <a:ea typeface="IBM Plex Sans" pitchFamily="34" charset="-122"/>
                <a:cs typeface="IBM Plex Sans" pitchFamily="34" charset="-120"/>
              </a:rPr>
              <a:t>For Re-ID: person crops</a:t>
            </a:r>
            <a:endParaRPr lang="en-US" sz="1800" dirty="0"/>
          </a:p>
        </p:txBody>
      </p:sp>
      <p:sp>
        <p:nvSpPr>
          <p:cNvPr id="9" name="Shape 6"/>
          <p:cNvSpPr/>
          <p:nvPr/>
        </p:nvSpPr>
        <p:spPr>
          <a:xfrm>
            <a:off x="6756400" y="2255441"/>
            <a:ext cx="2540000" cy="2863850"/>
          </a:xfrm>
          <a:prstGeom prst="roundRect">
            <a:avLst>
              <a:gd name="adj" fmla="val 3000"/>
            </a:avLst>
          </a:prstGeom>
          <a:solidFill>
            <a:srgbClr val="FFFFFF"/>
          </a:solidFill>
          <a:ln/>
        </p:spPr>
      </p:sp>
      <p:pic>
        <p:nvPicPr>
          <p:cNvPr id="10" name="Image 1" descr="Grid of person crops; each row is one person at different moments">    </p:cNvPr>
          <p:cNvPicPr>
            <a:picLocks noChangeAspect="1"/>
          </p:cNvPicPr>
          <p:nvPr/>
        </p:nvPicPr>
        <p:blipFill>
          <a:blip r:embed="rId2"/>
          <a:srcRect l="0" r="0" t="-8" b="-8"/>
          <a:stretch/>
        </p:blipFill>
        <p:spPr>
          <a:xfrm>
            <a:off x="6756400" y="2255441"/>
            <a:ext cx="2540000" cy="2863850"/>
          </a:xfrm>
          <a:prstGeom prst="roundRect">
            <a:avLst>
              <a:gd name="adj" fmla="val 3000"/>
            </a:avLst>
          </a:prstGeom>
        </p:spPr>
      </p:pic>
      <p:sp>
        <p:nvSpPr>
          <p:cNvPr id="11" name="Text 7"/>
          <p:cNvSpPr/>
          <p:nvPr/>
        </p:nvSpPr>
        <p:spPr>
          <a:xfrm>
            <a:off x="9448800" y="2255441"/>
            <a:ext cx="1988312" cy="398727"/>
          </a:xfrm>
          <a:prstGeom prst="rect">
            <a:avLst/>
          </a:prstGeom>
          <a:noFill/>
          <a:ln/>
        </p:spPr>
        <p:txBody>
          <a:bodyPr wrap="square" lIns="0" tIns="0" rIns="0" bIns="0" rtlCol="0" anchor="t">
            <a:normAutofit/>
          </a:bodyPr>
          <a:lstStyle/>
          <a:p>
            <a:pPr algn="l" indent="0" marL="0">
              <a:lnSpc>
                <a:spcPts val="2940"/>
              </a:lnSpc>
              <a:buNone/>
            </a:pPr>
            <a:r>
              <a:rPr lang="en-US" sz="2800" b="1" dirty="0">
                <a:solidFill>
                  <a:srgbClr val="2F6FB3"/>
                </a:solidFill>
                <a:latin typeface="Space Grotesk" pitchFamily="34" charset="0"/>
                <a:ea typeface="Space Grotesk" pitchFamily="34" charset="-122"/>
                <a:cs typeface="Space Grotesk" pitchFamily="34" charset="-120"/>
              </a:rPr>
              <a:t>20,146</a:t>
            </a:r>
            <a:endParaRPr lang="en-US" sz="2800" dirty="0"/>
          </a:p>
        </p:txBody>
      </p:sp>
      <p:sp>
        <p:nvSpPr>
          <p:cNvPr id="12" name="Text 8"/>
          <p:cNvSpPr/>
          <p:nvPr/>
        </p:nvSpPr>
        <p:spPr>
          <a:xfrm>
            <a:off x="9448800" y="2755770"/>
            <a:ext cx="1988312"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363"/>
                </a:solidFill>
                <a:latin typeface="IBM Plex Sans" pitchFamily="34" charset="0"/>
                <a:ea typeface="IBM Plex Sans" pitchFamily="34" charset="-122"/>
                <a:cs typeface="IBM Plex Sans" pitchFamily="34" charset="-120"/>
              </a:rPr>
              <a:t>crops of 362 people for training</a:t>
            </a:r>
            <a:endParaRPr lang="en-US" sz="1200" dirty="0"/>
          </a:p>
        </p:txBody>
      </p:sp>
      <p:sp>
        <p:nvSpPr>
          <p:cNvPr id="13" name="Text 9"/>
          <p:cNvSpPr/>
          <p:nvPr/>
        </p:nvSpPr>
        <p:spPr>
          <a:xfrm>
            <a:off x="9448800" y="3294196"/>
            <a:ext cx="1988312" cy="398727"/>
          </a:xfrm>
          <a:prstGeom prst="rect">
            <a:avLst/>
          </a:prstGeom>
          <a:noFill/>
          <a:ln/>
        </p:spPr>
        <p:txBody>
          <a:bodyPr wrap="square" lIns="0" tIns="0" rIns="0" bIns="0" rtlCol="0" anchor="t">
            <a:normAutofit/>
          </a:bodyPr>
          <a:lstStyle/>
          <a:p>
            <a:pPr algn="l" indent="0" marL="0">
              <a:lnSpc>
                <a:spcPts val="2940"/>
              </a:lnSpc>
              <a:buNone/>
            </a:pPr>
            <a:r>
              <a:rPr lang="en-US" sz="2800" b="1" dirty="0">
                <a:solidFill>
                  <a:srgbClr val="B8501F"/>
                </a:solidFill>
                <a:latin typeface="Space Grotesk" pitchFamily="34" charset="0"/>
                <a:ea typeface="Space Grotesk" pitchFamily="34" charset="-122"/>
                <a:cs typeface="Space Grotesk" pitchFamily="34" charset="-120"/>
              </a:rPr>
              <a:t>24</a:t>
            </a:r>
            <a:endParaRPr lang="en-US" sz="2800" dirty="0"/>
          </a:p>
        </p:txBody>
      </p:sp>
      <p:sp>
        <p:nvSpPr>
          <p:cNvPr id="14" name="Text 10"/>
          <p:cNvSpPr/>
          <p:nvPr/>
        </p:nvSpPr>
        <p:spPr>
          <a:xfrm>
            <a:off x="9448800" y="3794522"/>
            <a:ext cx="1988312"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363"/>
                </a:solidFill>
                <a:latin typeface="IBM Plex Sans" pitchFamily="34" charset="0"/>
                <a:ea typeface="IBM Plex Sans" pitchFamily="34" charset="-122"/>
                <a:cs typeface="IBM Plex Sans" pitchFamily="34" charset="-120"/>
              </a:rPr>
              <a:t>unseen people (MOT16-09) for testing</a:t>
            </a:r>
            <a:endParaRPr lang="en-US" sz="1200" dirty="0"/>
          </a:p>
        </p:txBody>
      </p:sp>
      <p:sp>
        <p:nvSpPr>
          <p:cNvPr id="15" name="Text 11"/>
          <p:cNvSpPr/>
          <p:nvPr/>
        </p:nvSpPr>
        <p:spPr>
          <a:xfrm>
            <a:off x="6756400" y="5220891"/>
            <a:ext cx="4761484"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363"/>
                </a:solidFill>
                <a:latin typeface="IBM Plex Sans" pitchFamily="34" charset="0"/>
                <a:ea typeface="IBM Plex Sans" pitchFamily="34" charset="-122"/>
                <a:cs typeface="IBM Plex Sans" pitchFamily="34" charset="-120"/>
              </a:rPr>
              <a:t>One folder per person = same ID, so positive and negative pairs come for free</a:t>
            </a:r>
            <a:endParaRPr lang="en-US" sz="1200" dirty="0"/>
          </a:p>
        </p:txBody>
      </p:sp>
      <p:sp>
        <p:nvSpPr>
          <p:cNvPr id="16"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pitchFamily="34" charset="0"/>
                <a:ea typeface="IBM Plex Sans" pitchFamily="34" charset="-122"/>
                <a:cs typeface="IBM Plex Sans" pitchFamily="34" charset="-120"/>
              </a:rPr>
              <a:t>Backup · data preparation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501F"/>
                </a:solidFill>
                <a:latin typeface="IBM Plex Sans" pitchFamily="34" charset="0"/>
                <a:ea typeface="IBM Plex Sans" pitchFamily="34" charset="-122"/>
                <a:cs typeface="IBM Plex Sans" pitchFamily="34" charset="-120"/>
              </a:rPr>
              <a:t>BACKUP · RESULTS · DETECTION</a:t>
            </a:r>
            <a:endParaRPr lang="en-US" sz="1200" dirty="0"/>
          </a:p>
        </p:txBody>
      </p:sp>
      <p:sp>
        <p:nvSpPr>
          <p:cNvPr id="3" name="Text 1"/>
          <p:cNvSpPr/>
          <p:nvPr>
            <p:ph type="title"/>
          </p:nvPr>
        </p:nvSpPr>
        <p:spPr>
          <a:xfrm>
            <a:off x="812800" y="1229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02E"/>
                </a:solidFill>
                <a:latin typeface="Space Grotesk" pitchFamily="34" charset="0"/>
                <a:ea typeface="Space Grotesk" pitchFamily="34" charset="-122"/>
                <a:cs typeface="Space Grotesk" pitchFamily="34" charset="-120"/>
              </a:rPr>
              <a:t>Similar AP; YOLO finds more hidden people</a:t>
            </a:r>
            <a:endParaRPr lang="en-US" sz="3200" dirty="0"/>
          </a:p>
        </p:txBody>
      </p:sp>
      <p:sp>
        <p:nvSpPr>
          <p:cNvPr id="4" name="Text 2"/>
          <p:cNvSpPr/>
          <p:nvPr/>
        </p:nvSpPr>
        <p:spPr>
          <a:xfrm>
            <a:off x="891032" y="1879535"/>
            <a:ext cx="5931408" cy="1056481"/>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4A5363"/>
                </a:solidFill>
                <a:latin typeface="IBM Plex Sans" pitchFamily="34" charset="0"/>
                <a:ea typeface="IBM Plex Sans" pitchFamily="34" charset="-122"/>
                <a:cs typeface="IBM Plex Sans" pitchFamily="34" charset="-120"/>
              </a:rPr>
              <a:t>Same evaluator for both, MOT16-09, all 525 frames</a:t>
            </a:r>
            <a:endParaRPr lang="en-US" sz="1400" dirty="0"/>
          </a:p>
          <a:p>
            <a:pPr algn="l" marL="175768" indent="-175768">
              <a:lnSpc>
                <a:spcPts val="2030"/>
              </a:lnSpc>
              <a:buSzPct val="100000"/>
              <a:buChar char="•"/>
            </a:pPr>
            <a:r>
              <a:rPr lang="en-US" sz="1400" dirty="0">
                <a:solidFill>
                  <a:srgbClr val="4A5363"/>
                </a:solidFill>
                <a:latin typeface="IBM Plex Sans" pitchFamily="34" charset="0"/>
                <a:ea typeface="IBM Plex Sans" pitchFamily="34" charset="-122"/>
                <a:cs typeface="IBM Plex Sans" pitchFamily="34" charset="-120"/>
              </a:rPr>
              <a:t>AP@0.5: 0.7896 (YOLO), 0.7798 (Faster R-CNN)</a:t>
            </a:r>
            <a:endParaRPr lang="en-US" sz="1400" dirty="0"/>
          </a:p>
          <a:p>
            <a:pPr algn="l" marL="175768" indent="-175768">
              <a:lnSpc>
                <a:spcPts val="2030"/>
              </a:lnSpc>
              <a:buSzPct val="100000"/>
              <a:buChar char="•"/>
            </a:pPr>
            <a:r>
              <a:rPr lang="en-US" sz="1400" dirty="0">
                <a:solidFill>
                  <a:srgbClr val="4A5363"/>
                </a:solidFill>
                <a:latin typeface="IBM Plex Sans" pitchFamily="34" charset="0"/>
                <a:ea typeface="IBM Plex Sans" pitchFamily="34" charset="-122"/>
                <a:cs typeface="IBM Plex Sans" pitchFamily="34" charset="-120"/>
              </a:rPr>
              <a:t>At precision 0.80: hidden people found 0.471 (B) vs 0.316 (A)</a:t>
            </a:r>
            <a:endParaRPr lang="en-US" sz="1400" dirty="0"/>
          </a:p>
          <a:p>
            <a:pPr algn="l" marL="175768" indent="-175768">
              <a:lnSpc>
                <a:spcPts val="2030"/>
              </a:lnSpc>
              <a:buSzPct val="100000"/>
              <a:buChar char="•"/>
            </a:pPr>
            <a:r>
              <a:rPr lang="en-US" sz="1400" dirty="0">
                <a:solidFill>
                  <a:srgbClr val="4A5363"/>
                </a:solidFill>
                <a:latin typeface="IBM Plex Sans" pitchFamily="34" charset="0"/>
                <a:ea typeface="IBM Plex Sans" pitchFamily="34" charset="-122"/>
                <a:cs typeface="IBM Plex Sans" pitchFamily="34" charset="-120"/>
              </a:rPr>
              <a:t>Final outputs: unmatched boxes 478 (B) vs 1,073 (A)</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3101116"/>
          <a:ext cx="5829300" cy="1929805"/>
        </p:xfrm>
        <a:graphic>
          <a:graphicData uri="http://schemas.openxmlformats.org/drawingml/2006/table">
            <a:tbl>
              <a:tblPr/>
              <a:tblGrid>
                <a:gridCol w="3383280"/>
                <a:gridCol w="1234440"/>
                <a:gridCol w="1216152"/>
              </a:tblGrid>
              <a:tr h="385961">
                <a:tc>
                  <a:txBody>
                    <a:bodyPr/>
                    <a:lstStyle/>
                    <a:p>
                      <a:pPr indent="0" marL="0">
                        <a:lnSpc>
                          <a:spcPts val="1960"/>
                        </a:lnSpc>
                        <a:buNone/>
                      </a:pPr>
                      <a:r>
                        <a:rPr lang="en-US" sz="1400" b="1" dirty="0">
                          <a:solidFill>
                            <a:srgbClr val="15202E"/>
                          </a:solidFill>
                          <a:latin typeface="IBM Plex Sans" pitchFamily="34" charset="0"/>
                          <a:ea typeface="IBM Plex Sans" pitchFamily="34" charset="-122"/>
                          <a:cs typeface="IBM Plex Sans" pitchFamily="34" charset="-120"/>
                        </a:rPr>
                        <a:t>Same evaluator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algn="r" indent="0" marL="0">
                        <a:lnSpc>
                          <a:spcPts val="1960"/>
                        </a:lnSpc>
                        <a:buNone/>
                      </a:pPr>
                      <a:r>
                        <a:rPr lang="en-US" sz="1400" b="1" dirty="0">
                          <a:solidFill>
                            <a:srgbClr val="15202E"/>
                          </a:solidFill>
                          <a:latin typeface="IBM Plex Sans" pitchFamily="34" charset="0"/>
                          <a:ea typeface="IBM Plex Sans" pitchFamily="34" charset="-122"/>
                          <a:cs typeface="IBM Plex Sans" pitchFamily="34" charset="-120"/>
                        </a:rPr>
                        <a:t>Pipeline 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algn="r" indent="0" marL="0">
                        <a:lnSpc>
                          <a:spcPts val="1960"/>
                        </a:lnSpc>
                        <a:buNone/>
                      </a:pPr>
                      <a:r>
                        <a:rPr lang="en-US" sz="1400" b="1" dirty="0">
                          <a:solidFill>
                            <a:srgbClr val="15202E"/>
                          </a:solidFill>
                          <a:latin typeface="IBM Plex Sans" pitchFamily="34" charset="0"/>
                          <a:ea typeface="IBM Plex Sans" pitchFamily="34" charset="-122"/>
                          <a:cs typeface="IBM Plex Sans" pitchFamily="34" charset="-120"/>
                        </a:rPr>
                        <a:t>Pipeline B</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r>
              <a:tr h="385961">
                <a:tc>
                  <a:txBody>
                    <a:bodyPr/>
                    <a:lstStyle/>
                    <a:p>
                      <a:pPr indent="0" marL="0">
                        <a:lnSpc>
                          <a:spcPts val="1960"/>
                        </a:lnSpc>
                        <a:buNone/>
                      </a:pPr>
                      <a:r>
                        <a:rPr lang="en-US" sz="1400" dirty="0">
                          <a:solidFill>
                            <a:srgbClr val="15202E"/>
                          </a:solidFill>
                          <a:latin typeface="IBM Plex Sans" pitchFamily="34" charset="0"/>
                          <a:ea typeface="IBM Plex Sans" pitchFamily="34" charset="-122"/>
                          <a:cs typeface="IBM Plex Sans" pitchFamily="34" charset="-120"/>
                        </a:rPr>
                        <a:t>AP@0.5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5202E"/>
                          </a:solidFill>
                          <a:latin typeface="IBM Plex Sans" pitchFamily="34" charset="0"/>
                          <a:ea typeface="IBM Plex Sans" pitchFamily="34" charset="-122"/>
                          <a:cs typeface="IBM Plex Sans" pitchFamily="34" charset="-120"/>
                        </a:rPr>
                        <a:t>0.7798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5202E"/>
                          </a:solidFill>
                          <a:latin typeface="IBM Plex Sans" pitchFamily="34" charset="0"/>
                          <a:ea typeface="IBM Plex Sans" pitchFamily="34" charset="-122"/>
                          <a:cs typeface="IBM Plex Sans" pitchFamily="34" charset="-120"/>
                        </a:rPr>
                        <a:t>0.7896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5202E"/>
                          </a:solidFill>
                          <a:latin typeface="IBM Plex Sans" pitchFamily="34" charset="0"/>
                          <a:ea typeface="IBM Plex Sans" pitchFamily="34" charset="-122"/>
                          <a:cs typeface="IBM Plex Sans" pitchFamily="34" charset="-120"/>
                        </a:rPr>
                        <a:t>Recall, visibility &lt; 0.25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5202E"/>
                          </a:solidFill>
                          <a:latin typeface="IBM Plex Sans" pitchFamily="34" charset="0"/>
                          <a:ea typeface="IBM Plex Sans" pitchFamily="34" charset="-122"/>
                          <a:cs typeface="IBM Plex Sans" pitchFamily="34" charset="-120"/>
                        </a:rPr>
                        <a:t>0.316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5202E"/>
                          </a:solidFill>
                          <a:latin typeface="IBM Plex Sans" pitchFamily="34" charset="0"/>
                          <a:ea typeface="IBM Plex Sans" pitchFamily="34" charset="-122"/>
                          <a:cs typeface="IBM Plex Sans" pitchFamily="34" charset="-120"/>
                        </a:rPr>
                        <a:t>0.471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5202E"/>
                          </a:solidFill>
                          <a:latin typeface="IBM Plex Sans" pitchFamily="34" charset="0"/>
                          <a:ea typeface="IBM Plex Sans" pitchFamily="34" charset="-122"/>
                          <a:cs typeface="IBM Plex Sans" pitchFamily="34" charset="-120"/>
                        </a:rPr>
                        <a:t>Recall, all (precision 0.80)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5202E"/>
                          </a:solidFill>
                          <a:latin typeface="IBM Plex Sans" pitchFamily="34" charset="0"/>
                          <a:ea typeface="IBM Plex Sans" pitchFamily="34" charset="-122"/>
                          <a:cs typeface="IBM Plex Sans" pitchFamily="34" charset="-120"/>
                        </a:rPr>
                        <a:t>0.757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5202E"/>
                          </a:solidFill>
                          <a:latin typeface="IBM Plex Sans" pitchFamily="34" charset="0"/>
                          <a:ea typeface="IBM Plex Sans" pitchFamily="34" charset="-122"/>
                          <a:cs typeface="IBM Plex Sans" pitchFamily="34" charset="-120"/>
                        </a:rPr>
                        <a:t>0.798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5202E"/>
                          </a:solidFill>
                          <a:latin typeface="IBM Plex Sans" pitchFamily="34" charset="0"/>
                          <a:ea typeface="IBM Plex Sans" pitchFamily="34" charset="-122"/>
                          <a:cs typeface="IBM Plex Sans" pitchFamily="34" charset="-120"/>
                        </a:rPr>
                        <a:t>Unmatched boxes, final tracks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5202E"/>
                          </a:solidFill>
                          <a:latin typeface="IBM Plex Sans" pitchFamily="34" charset="0"/>
                          <a:ea typeface="IBM Plex Sans" pitchFamily="34" charset="-122"/>
                          <a:cs typeface="IBM Plex Sans" pitchFamily="34" charset="-120"/>
                        </a:rPr>
                        <a:t>1,073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960"/>
                        </a:lnSpc>
                        <a:buNone/>
                      </a:pPr>
                      <a:r>
                        <a:rPr lang="en-US" sz="1400" dirty="0">
                          <a:solidFill>
                            <a:srgbClr val="15202E"/>
                          </a:solidFill>
                          <a:latin typeface="IBM Plex Sans" pitchFamily="34" charset="0"/>
                          <a:ea typeface="IBM Plex Sans" pitchFamily="34" charset="-122"/>
                          <a:cs typeface="IBM Plex Sans" pitchFamily="34" charset="-120"/>
                        </a:rPr>
                        <a:t>478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6" name="Text 3"/>
          <p:cNvSpPr/>
          <p:nvPr/>
        </p:nvSpPr>
        <p:spPr>
          <a:xfrm>
            <a:off x="812800" y="5257800"/>
            <a:ext cx="601726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pitchFamily="34" charset="0"/>
                <a:ea typeface="IBM Plex Sans" pitchFamily="34" charset="-122"/>
                <a:cs typeface="IBM Plex Sans" pitchFamily="34" charset="-120"/>
              </a:rPr>
              <a:t>Hidden people are the main limit for both: 79% of Pipeline B’s misses have visibility &lt; 0.25.</a:t>
            </a:r>
            <a:endParaRPr lang="en-US" sz="1300" dirty="0"/>
          </a:p>
        </p:txBody>
      </p:sp>
      <p:sp>
        <p:nvSpPr>
          <p:cNvPr id="7" name="Shape 4"/>
          <p:cNvSpPr/>
          <p:nvPr/>
        </p:nvSpPr>
        <p:spPr>
          <a:xfrm>
            <a:off x="7013448" y="1883664"/>
            <a:ext cx="4370832" cy="3630168"/>
          </a:xfrm>
          <a:prstGeom prst="roundRect">
            <a:avLst>
              <a:gd name="adj" fmla="val 2098"/>
            </a:avLst>
          </a:prstGeom>
          <a:solidFill>
            <a:srgbClr val="FFFFFF"/>
          </a:solidFill>
          <a:ln/>
        </p:spPr>
      </p:sp>
      <p:pic>
        <p:nvPicPr>
          <p:cNvPr id="8" name="Image 0" descr="Precision-recall curves on MOT16-09: fine-tuned model (AP 0.780) above the COCO model (AP 0.741) at every recall">    </p:cNvPr>
          <p:cNvPicPr>
            <a:picLocks noChangeAspect="1"/>
          </p:cNvPicPr>
          <p:nvPr/>
        </p:nvPicPr>
        <p:blipFill>
          <a:blip r:embed="rId4"/>
          <a:stretch/>
        </p:blipFill>
        <p:spPr>
          <a:xfrm>
            <a:off x="7020763" y="1883664"/>
            <a:ext cx="4356201" cy="3630168"/>
          </a:xfrm>
          <a:prstGeom prst="roundRect">
            <a:avLst>
              <a:gd name="adj" fmla="val 2098"/>
            </a:avLst>
          </a:prstGeom>
        </p:spPr>
      </p:pic>
      <p:sp>
        <p:nvSpPr>
          <p:cNvPr id="9"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pitchFamily="34" charset="0"/>
                <a:ea typeface="IBM Plex Sans" pitchFamily="34" charset="-122"/>
                <a:cs typeface="IBM Plex Sans" pitchFamily="34" charset="-120"/>
              </a:rPr>
              <a:t>Backup · detection results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501F"/>
                </a:solidFill>
                <a:latin typeface="IBM Plex Sans" pitchFamily="34" charset="0"/>
                <a:ea typeface="IBM Plex Sans" pitchFamily="34" charset="-122"/>
                <a:cs typeface="IBM Plex Sans" pitchFamily="34" charset="-120"/>
              </a:rPr>
              <a:t>4 · METHODOLOGY · RE-IDENTIFICATION</a:t>
            </a:r>
            <a:endParaRPr lang="en-US" sz="1200" dirty="0"/>
          </a:p>
        </p:txBody>
      </p:sp>
      <p:sp>
        <p:nvSpPr>
          <p:cNvPr id="3" name="Text 1"/>
          <p:cNvSpPr/>
          <p:nvPr>
            <p:ph type="title"/>
          </p:nvPr>
        </p:nvSpPr>
        <p:spPr>
          <a:xfrm>
            <a:off x="812800" y="1229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02E"/>
                </a:solidFill>
                <a:latin typeface="Space Grotesk" pitchFamily="34" charset="0"/>
                <a:ea typeface="Space Grotesk" pitchFamily="34" charset="-122"/>
                <a:cs typeface="Space Grotesk" pitchFamily="34" charset="-120"/>
              </a:rPr>
              <a:t>A Siamese network learns a distance</a:t>
            </a:r>
            <a:endParaRPr lang="en-US" sz="3200" dirty="0"/>
          </a:p>
        </p:txBody>
      </p:sp>
      <p:sp>
        <p:nvSpPr>
          <p:cNvPr id="4" name="Text 2"/>
          <p:cNvSpPr/>
          <p:nvPr/>
        </p:nvSpPr>
        <p:spPr>
          <a:xfrm>
            <a:off x="891032" y="1879535"/>
            <a:ext cx="5460492" cy="1056481"/>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4A5363"/>
                </a:solidFill>
                <a:latin typeface="IBM Plex Sans" pitchFamily="34" charset="0"/>
                <a:ea typeface="IBM Plex Sans" pitchFamily="34" charset="-122"/>
                <a:cs typeface="IBM Plex Sans" pitchFamily="34" charset="-120"/>
              </a:rPr>
              <a:t>One shared network embeds each crop</a:t>
            </a:r>
            <a:endParaRPr lang="en-US" sz="1400" dirty="0"/>
          </a:p>
          <a:p>
            <a:pPr algn="l" marL="175768" indent="-175768">
              <a:lnSpc>
                <a:spcPts val="2030"/>
              </a:lnSpc>
              <a:buSzPct val="100000"/>
              <a:buChar char="•"/>
            </a:pPr>
            <a:r>
              <a:rPr lang="en-US" sz="1400" dirty="0">
                <a:solidFill>
                  <a:srgbClr val="4A5363"/>
                </a:solidFill>
                <a:latin typeface="IBM Plex Sans" pitchFamily="34" charset="0"/>
                <a:ea typeface="IBM Plex Sans" pitchFamily="34" charset="-122"/>
                <a:cs typeface="IBM Plex Sans" pitchFamily="34" charset="-120"/>
              </a:rPr>
              <a:t>Same person close, different people far</a:t>
            </a:r>
            <a:endParaRPr lang="en-US" sz="1400" dirty="0"/>
          </a:p>
          <a:p>
            <a:pPr algn="l" marL="175768" indent="-175768">
              <a:lnSpc>
                <a:spcPts val="2030"/>
              </a:lnSpc>
              <a:buSzPct val="100000"/>
              <a:buChar char="•"/>
            </a:pPr>
            <a:r>
              <a:rPr lang="en-US" sz="1400" dirty="0">
                <a:solidFill>
                  <a:srgbClr val="4A5363"/>
                </a:solidFill>
                <a:latin typeface="IBM Plex Sans" pitchFamily="34" charset="0"/>
                <a:ea typeface="IBM Plex Sans" pitchFamily="34" charset="-122"/>
                <a:cs typeface="IBM Plex Sans" pitchFamily="34" charset="-120"/>
              </a:rPr>
              <a:t>Batch-hard triplet loss, 16 people × 4 crops</a:t>
            </a:r>
            <a:endParaRPr lang="en-US" sz="1400" dirty="0"/>
          </a:p>
          <a:p>
            <a:pPr algn="l" marL="175768" indent="-175768">
              <a:lnSpc>
                <a:spcPts val="2030"/>
              </a:lnSpc>
              <a:buSzPct val="100000"/>
              <a:buChar char="•"/>
            </a:pPr>
            <a:r>
              <a:rPr lang="en-US" sz="1400" dirty="0">
                <a:solidFill>
                  <a:srgbClr val="4A5363"/>
                </a:solidFill>
                <a:latin typeface="IBM Plex Sans" pitchFamily="34" charset="0"/>
                <a:ea typeface="IBM Plex Sans" pitchFamily="34" charset="-122"/>
                <a:cs typeface="IBM Plex Sans" pitchFamily="34" charset="-120"/>
              </a:rPr>
              <a:t>Random erasing imitates occlusion</a:t>
            </a:r>
            <a:endParaRPr lang="en-US" sz="1400" dirty="0"/>
          </a:p>
        </p:txBody>
      </p:sp>
      <p:sp>
        <p:nvSpPr>
          <p:cNvPr id="5" name="Shape 3"/>
          <p:cNvSpPr/>
          <p:nvPr/>
        </p:nvSpPr>
        <p:spPr>
          <a:xfrm>
            <a:off x="815975" y="3091591"/>
            <a:ext cx="5378450" cy="1284684"/>
          </a:xfrm>
          <a:prstGeom prst="roundRect">
            <a:avLst>
              <a:gd name="adj" fmla="val 7661"/>
            </a:avLst>
          </a:prstGeom>
          <a:solidFill>
            <a:srgbClr val="FFFFFF"/>
          </a:solidFill>
          <a:ln w="6350">
            <a:solidFill>
              <a:srgbClr val="E2DED5"/>
            </a:solidFill>
            <a:prstDash val="solid"/>
          </a:ln>
        </p:spPr>
      </p:sp>
      <p:sp>
        <p:nvSpPr>
          <p:cNvPr id="6" name="Text 4"/>
          <p:cNvSpPr/>
          <p:nvPr/>
        </p:nvSpPr>
        <p:spPr>
          <a:xfrm>
            <a:off x="1020233" y="3295848"/>
            <a:ext cx="511903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3"/>
                </a:solidFill>
                <a:latin typeface="IBM Plex Sans" pitchFamily="34" charset="0"/>
                <a:ea typeface="IBM Plex Sans" pitchFamily="34" charset="-122"/>
                <a:cs typeface="IBM Plex Sans" pitchFamily="34" charset="-120"/>
              </a:rPr>
              <a:t>TRIPLET LOSS</a:t>
            </a:r>
            <a:endParaRPr lang="en-US" sz="1200" dirty="0"/>
          </a:p>
        </p:txBody>
      </p:sp>
      <p:sp>
        <p:nvSpPr>
          <p:cNvPr id="7" name="Text 5"/>
          <p:cNvSpPr/>
          <p:nvPr/>
        </p:nvSpPr>
        <p:spPr>
          <a:xfrm>
            <a:off x="1020233" y="3585369"/>
            <a:ext cx="5119031" cy="322527"/>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15202E"/>
                </a:solidFill>
                <a:latin typeface="Space Grotesk" pitchFamily="34" charset="0"/>
                <a:ea typeface="Space Grotesk" pitchFamily="34" charset="-122"/>
                <a:cs typeface="Space Grotesk" pitchFamily="34" charset="-120"/>
              </a:rPr>
              <a:t>L = max(0, d(a, p) − d(a, n) + 0.3)</a:t>
            </a:r>
            <a:endParaRPr lang="en-US" sz="1800" dirty="0"/>
          </a:p>
        </p:txBody>
      </p:sp>
      <p:sp>
        <p:nvSpPr>
          <p:cNvPr id="8" name="Text 6"/>
          <p:cNvSpPr/>
          <p:nvPr/>
        </p:nvSpPr>
        <p:spPr>
          <a:xfrm>
            <a:off x="1020233" y="3958698"/>
            <a:ext cx="51190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a = anchor, p = same person (hardest), n = other person (closest)</a:t>
            </a:r>
            <a:endParaRPr lang="en-US" sz="1200" dirty="0"/>
          </a:p>
        </p:txBody>
      </p:sp>
      <p:sp>
        <p:nvSpPr>
          <p:cNvPr id="9" name="Text 7"/>
          <p:cNvSpPr/>
          <p:nvPr/>
        </p:nvSpPr>
        <p:spPr>
          <a:xfrm>
            <a:off x="812800" y="4557251"/>
            <a:ext cx="5546344" cy="7315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pitchFamily="34" charset="0"/>
                <a:ea typeface="IBM Plex Sans" pitchFamily="34" charset="-122"/>
                <a:cs typeface="IBM Plex Sans" pitchFamily="34" charset="-120"/>
              </a:rPr>
              <a:t>A: ResNet-18, 128 numbers. B: ResNet-50, 2048 numbers, plus an identity loss. It learns a distance, not names, so it works on unseen people. Common test: Rank-1 0.767 (A), 0.922 (B).</a:t>
            </a:r>
            <a:endParaRPr lang="en-US" sz="1300" dirty="0"/>
          </a:p>
        </p:txBody>
      </p:sp>
      <p:sp>
        <p:nvSpPr>
          <p:cNvPr id="10" name="Shape 8"/>
          <p:cNvSpPr/>
          <p:nvPr/>
        </p:nvSpPr>
        <p:spPr>
          <a:xfrm>
            <a:off x="6553200" y="1879535"/>
            <a:ext cx="4826000" cy="2381250"/>
          </a:xfrm>
          <a:prstGeom prst="roundRect">
            <a:avLst>
              <a:gd name="adj" fmla="val 3200"/>
            </a:avLst>
          </a:prstGeom>
          <a:solidFill>
            <a:srgbClr val="FFFFFF"/>
          </a:solidFill>
          <a:ln/>
        </p:spPr>
      </p:sp>
      <p:pic>
        <p:nvPicPr>
          <p:cNvPr id="11" name="Image 0" descr="Histogram of embedding distances on unseen people: same-person pairs mostly between 0.2 and 0.7, different-person pairs mostly between 0.9 and 1.4">    </p:cNvPr>
          <p:cNvPicPr>
            <a:picLocks noChangeAspect="1"/>
          </p:cNvPicPr>
          <p:nvPr/>
        </p:nvPicPr>
        <p:blipFill>
          <a:blip r:embed="rId1"/>
          <a:srcRect l="-25" r="-25" t="0" b="0"/>
          <a:stretch/>
        </p:blipFill>
        <p:spPr>
          <a:xfrm>
            <a:off x="6553200" y="1879535"/>
            <a:ext cx="4826000" cy="2381250"/>
          </a:xfrm>
          <a:prstGeom prst="roundRect">
            <a:avLst>
              <a:gd name="adj" fmla="val 3200"/>
            </a:avLst>
          </a:prstGeom>
        </p:spPr>
      </p:pic>
      <p:sp>
        <p:nvSpPr>
          <p:cNvPr id="12" name="Text 9"/>
          <p:cNvSpPr/>
          <p:nvPr/>
        </p:nvSpPr>
        <p:spPr>
          <a:xfrm>
            <a:off x="6553200" y="4362385"/>
            <a:ext cx="497078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363"/>
                </a:solidFill>
                <a:latin typeface="IBM Plex Sans" pitchFamily="34" charset="0"/>
                <a:ea typeface="IBM Plex Sans" pitchFamily="34" charset="-122"/>
                <a:cs typeface="IBM Plex Sans" pitchFamily="34" charset="-120"/>
              </a:rPr>
              <a:t>Pipeline A: distances on 24 unseen people; the two groups are clearly separated.</a:t>
            </a:r>
            <a:endParaRPr lang="en-US" sz="12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pitchFamily="34" charset="0"/>
                <a:ea typeface="IBM Plex Sans" pitchFamily="34" charset="-122"/>
                <a:cs typeface="IBM Plex Sans" pitchFamily="34" charset="-120"/>
              </a:rPr>
              <a:t>Bosia N’dri · 9</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3230"/>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B8501F"/>
                </a:solidFill>
                <a:latin typeface="IBM Plex Sans" pitchFamily="34" charset="0"/>
                <a:ea typeface="IBM Plex Sans" pitchFamily="34" charset="-122"/>
                <a:cs typeface="IBM Plex Sans" pitchFamily="34" charset="-120"/>
              </a:rPr>
              <a:t>BACKUP · RESULTS · RE-IDENTIFICATION</a:t>
            </a:r>
            <a:endParaRPr lang="en-US" sz="1196" dirty="0"/>
          </a:p>
        </p:txBody>
      </p:sp>
      <p:sp>
        <p:nvSpPr>
          <p:cNvPr id="3" name="Text 1"/>
          <p:cNvSpPr/>
          <p:nvPr>
            <p:ph type="title"/>
          </p:nvPr>
        </p:nvSpPr>
        <p:spPr>
          <a:xfrm>
            <a:off x="812800" y="1223832"/>
            <a:ext cx="10883392" cy="460904"/>
          </a:xfrm>
          <a:prstGeom prst="rect">
            <a:avLst/>
          </a:prstGeom>
          <a:noFill/>
          <a:ln/>
        </p:spPr>
        <p:txBody>
          <a:bodyPr wrap="square" lIns="0" tIns="0" rIns="0" bIns="0" rtlCol="0" anchor="t">
            <a:normAutofit/>
          </a:bodyPr>
          <a:lstStyle/>
          <a:p>
            <a:pPr algn="l" indent="0" marL="0">
              <a:lnSpc>
                <a:spcPts val="3465"/>
              </a:lnSpc>
              <a:buNone/>
            </a:pPr>
            <a:r>
              <a:rPr lang="en-US" sz="3150" b="1" i="0" dirty="0">
                <a:solidFill>
                  <a:srgbClr val="15202E"/>
                </a:solidFill>
                <a:latin typeface="Space Grotesk" pitchFamily="34" charset="0"/>
                <a:ea typeface="Space Grotesk" pitchFamily="34" charset="-122"/>
                <a:cs typeface="Space Grotesk" pitchFamily="34" charset="-120"/>
              </a:rPr>
              <a:t>Training helps both; the larger model scores higher</a:t>
            </a:r>
            <a:endParaRPr lang="en-US" sz="31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75234"/>
          <a:ext cx="7956550" cy="1796521"/>
        </p:xfrm>
        <a:graphic>
          <a:graphicData uri="http://schemas.openxmlformats.org/drawingml/2006/table">
            <a:tbl>
              <a:tblPr/>
              <a:tblGrid>
                <a:gridCol w="3978275"/>
                <a:gridCol w="1989138"/>
                <a:gridCol w="1989138"/>
              </a:tblGrid>
              <a:tr h="359304">
                <a:tc>
                  <a:txBody>
                    <a:bodyPr/>
                    <a:lstStyle/>
                    <a:p>
                      <a:pPr indent="0" marL="0">
                        <a:lnSpc>
                          <a:spcPts val="1820"/>
                        </a:lnSpc>
                        <a:buNone/>
                      </a:pPr>
                      <a:r>
                        <a:rPr lang="en-US" sz="1300" b="1" dirty="0">
                          <a:solidFill>
                            <a:srgbClr val="15202E"/>
                          </a:solidFill>
                          <a:latin typeface="IBM Plex Sans" pitchFamily="34" charset="0"/>
                          <a:ea typeface="IBM Plex Sans" pitchFamily="34" charset="-122"/>
                          <a:cs typeface="IBM Plex Sans" pitchFamily="34" charset="-120"/>
                        </a:rPr>
                        <a:t>Common protocol, MOT16-09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algn="r" indent="0" marL="0">
                        <a:lnSpc>
                          <a:spcPts val="1820"/>
                        </a:lnSpc>
                        <a:buNone/>
                      </a:pPr>
                      <a:r>
                        <a:rPr lang="en-US" sz="1300" b="1" dirty="0">
                          <a:solidFill>
                            <a:srgbClr val="15202E"/>
                          </a:solidFill>
                          <a:latin typeface="IBM Plex Sans" pitchFamily="34" charset="0"/>
                          <a:ea typeface="IBM Plex Sans" pitchFamily="34" charset="-122"/>
                          <a:cs typeface="IBM Plex Sans" pitchFamily="34" charset="-120"/>
                        </a:rPr>
                        <a:t>mAP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algn="r" indent="0" marL="0">
                        <a:lnSpc>
                          <a:spcPts val="1820"/>
                        </a:lnSpc>
                        <a:buNone/>
                      </a:pPr>
                      <a:r>
                        <a:rPr lang="en-US" sz="1300" b="1" dirty="0">
                          <a:solidFill>
                            <a:srgbClr val="15202E"/>
                          </a:solidFill>
                          <a:latin typeface="IBM Plex Sans" pitchFamily="34" charset="0"/>
                          <a:ea typeface="IBM Plex Sans" pitchFamily="34" charset="-122"/>
                          <a:cs typeface="IBM Plex Sans" pitchFamily="34" charset="-120"/>
                        </a:rPr>
                        <a:t>Rank-1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r>
              <a:tr h="359304">
                <a:tc>
                  <a:txBody>
                    <a:bodyPr/>
                    <a:lstStyle/>
                    <a:p>
                      <a:pP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A: ResNet-18, ImageNet only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0.400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0.564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A: Siamese ResNet-18, triplet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0.635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0.767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B: ResNet-50, ImageNet only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0.460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0.533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B: ResNet-50 + BNNeck, ID + triplet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0.844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0.922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7" name="Text 3"/>
          <p:cNvSpPr/>
          <p:nvPr/>
        </p:nvSpPr>
        <p:spPr>
          <a:xfrm>
            <a:off x="813816" y="3931920"/>
            <a:ext cx="7955279" cy="14630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363"/>
                </a:solidFill>
                <a:latin typeface="IBM Plex Sans" pitchFamily="34" charset="0"/>
                <a:ea typeface="IBM Plex Sans" pitchFamily="34" charset="-122"/>
                <a:cs typeface="IBM Plex Sans" pitchFamily="34" charset="-120"/>
              </a:rPr>
              <a:t>Be careful: Pipeline B has a larger network and a larger input, and its checkpoint was chosen on this video. Pipeline A’s own, easier test gave Rank-1 0.914.</a:t>
            </a:r>
            <a:endParaRPr lang="en-US" sz="1200" dirty="0"/>
          </a:p>
        </p:txBody>
      </p:sp>
      <p:sp>
        <p:nvSpPr>
          <p:cNvPr id="8" name="Shape 4"/>
          <p:cNvSpPr/>
          <p:nvPr/>
        </p:nvSpPr>
        <p:spPr>
          <a:xfrm>
            <a:off x="9134856" y="1865376"/>
            <a:ext cx="2240280" cy="3813048"/>
          </a:xfrm>
          <a:prstGeom prst="roundRect">
            <a:avLst>
              <a:gd name="adj" fmla="val 3399"/>
            </a:avLst>
          </a:prstGeom>
          <a:solidFill>
            <a:srgbClr val="FFFFFF"/>
          </a:solidFill>
          <a:ln/>
        </p:spPr>
      </p:sp>
      <p:pic>
        <p:nvPicPr>
          <p:cNvPr id="9" name="Image 1" descr="Top-5 retrieval examples: for 5 query people, 24 of 25 retrieved crops are the same person (green), one is a look-alike (red)">    </p:cNvPr>
          <p:cNvPicPr>
            <a:picLocks noChangeAspect="1"/>
          </p:cNvPicPr>
          <p:nvPr/>
        </p:nvPicPr>
        <p:blipFill>
          <a:blip r:embed="rId1"/>
          <a:stretch/>
        </p:blipFill>
        <p:spPr>
          <a:xfrm>
            <a:off x="9134856" y="2091690"/>
            <a:ext cx="2240280" cy="3360420"/>
          </a:xfrm>
          <a:prstGeom prst="roundRect">
            <a:avLst>
              <a:gd name="adj" fmla="val 3399"/>
            </a:avLst>
          </a:prstGeom>
        </p:spPr>
      </p:pic>
      <p:sp>
        <p:nvSpPr>
          <p:cNvPr id="10" name="Text 5"/>
          <p:cNvSpPr/>
          <p:nvPr/>
        </p:nvSpPr>
        <p:spPr>
          <a:xfrm>
            <a:off x="9137650" y="5748734"/>
            <a:ext cx="2308796"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363"/>
                </a:solidFill>
                <a:latin typeface="IBM Plex Sans" pitchFamily="34" charset="0"/>
                <a:ea typeface="IBM Plex Sans" pitchFamily="34" charset="-122"/>
                <a:cs typeface="IBM Plex Sans" pitchFamily="34" charset="-120"/>
              </a:rPr>
              <a:t>Pipeline B: top-5 matches (green = same person)</a:t>
            </a:r>
            <a:endParaRPr lang="en-US" sz="1200" dirty="0"/>
          </a:p>
        </p:txBody>
      </p:sp>
      <p:sp>
        <p:nvSpPr>
          <p:cNvPr id="11"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pitchFamily="34" charset="0"/>
                <a:ea typeface="IBM Plex Sans" pitchFamily="34" charset="-122"/>
                <a:cs typeface="IBM Plex Sans" pitchFamily="34" charset="-120"/>
              </a:rPr>
              <a:t>Backup · ReID results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501F"/>
                </a:solidFill>
                <a:latin typeface="IBM Plex Sans" pitchFamily="34" charset="0"/>
                <a:ea typeface="IBM Plex Sans" pitchFamily="34" charset="-122"/>
                <a:cs typeface="IBM Plex Sans" pitchFamily="34" charset="-120"/>
              </a:rPr>
              <a:t>4 · METHODOLOGY · TRACKING</a:t>
            </a:r>
            <a:endParaRPr lang="en-US" sz="1200" dirty="0"/>
          </a:p>
        </p:txBody>
      </p:sp>
      <p:sp>
        <p:nvSpPr>
          <p:cNvPr id="3" name="Text 1"/>
          <p:cNvSpPr/>
          <p:nvPr>
            <p:ph type="title"/>
          </p:nvPr>
        </p:nvSpPr>
        <p:spPr>
          <a:xfrm>
            <a:off x="812800" y="1229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02E"/>
                </a:solidFill>
                <a:latin typeface="Space Grotesk" pitchFamily="34" charset="0"/>
                <a:ea typeface="Space Grotesk" pitchFamily="34" charset="-122"/>
                <a:cs typeface="Space Grotesk" pitchFamily="34" charset="-120"/>
              </a:rPr>
              <a:t>Every frame: predict, match, keep alive</a:t>
            </a:r>
            <a:endParaRPr lang="en-US" sz="3200" dirty="0"/>
          </a:p>
        </p:txBody>
      </p:sp>
      <p:sp>
        <p:nvSpPr>
          <p:cNvPr id="4" name="Shape 2"/>
          <p:cNvSpPr/>
          <p:nvPr/>
        </p:nvSpPr>
        <p:spPr>
          <a:xfrm>
            <a:off x="815975" y="1882713"/>
            <a:ext cx="5187950" cy="1470091"/>
          </a:xfrm>
          <a:prstGeom prst="roundRect">
            <a:avLst>
              <a:gd name="adj" fmla="val 6695"/>
            </a:avLst>
          </a:prstGeom>
          <a:solidFill>
            <a:srgbClr val="FFFFFF"/>
          </a:solidFill>
          <a:ln w="6350">
            <a:solidFill>
              <a:srgbClr val="E2DED5"/>
            </a:solidFill>
            <a:prstDash val="solid"/>
          </a:ln>
        </p:spPr>
      </p:sp>
      <p:sp>
        <p:nvSpPr>
          <p:cNvPr id="5" name="Text 3"/>
          <p:cNvSpPr/>
          <p:nvPr/>
        </p:nvSpPr>
        <p:spPr>
          <a:xfrm>
            <a:off x="1020233" y="2086967"/>
            <a:ext cx="492281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FB3"/>
                </a:solidFill>
                <a:latin typeface="IBM Plex Sans" pitchFamily="34" charset="0"/>
                <a:ea typeface="IBM Plex Sans" pitchFamily="34" charset="-122"/>
                <a:cs typeface="IBM Plex Sans" pitchFamily="34" charset="-120"/>
              </a:rPr>
              <a:t>1 · Predict</a:t>
            </a:r>
            <a:endParaRPr lang="en-US" sz="1200" dirty="0"/>
          </a:p>
        </p:txBody>
      </p:sp>
      <p:sp>
        <p:nvSpPr>
          <p:cNvPr id="6" name="Text 4"/>
          <p:cNvSpPr/>
          <p:nvPr/>
        </p:nvSpPr>
        <p:spPr>
          <a:xfrm>
            <a:off x="1020233" y="2363788"/>
            <a:ext cx="4922816"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5202E"/>
                </a:solidFill>
                <a:latin typeface="IBM Plex Sans" pitchFamily="34" charset="0"/>
                <a:ea typeface="IBM Plex Sans" pitchFamily="34" charset="-122"/>
                <a:cs typeface="IBM Plex Sans" pitchFamily="34" charset="-120"/>
              </a:rPr>
              <a:t>Kalman filter</a:t>
            </a:r>
            <a:endParaRPr lang="en-US" sz="1700" dirty="0"/>
          </a:p>
        </p:txBody>
      </p:sp>
      <p:sp>
        <p:nvSpPr>
          <p:cNvPr id="7" name="Text 5"/>
          <p:cNvSpPr/>
          <p:nvPr/>
        </p:nvSpPr>
        <p:spPr>
          <a:xfrm>
            <a:off x="1020233" y="2686317"/>
            <a:ext cx="4922816"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pitchFamily="34" charset="0"/>
                <a:ea typeface="IBM Plex Sans" pitchFamily="34" charset="-122"/>
                <a:cs typeface="IBM Plex Sans" pitchFamily="34" charset="-120"/>
              </a:rPr>
              <a:t>Predicts where each person will be in the next frame from their speed.</a:t>
            </a:r>
            <a:endParaRPr lang="en-US" sz="1300" dirty="0"/>
          </a:p>
        </p:txBody>
      </p:sp>
      <p:sp>
        <p:nvSpPr>
          <p:cNvPr id="8" name="Shape 6"/>
          <p:cNvSpPr/>
          <p:nvPr/>
        </p:nvSpPr>
        <p:spPr>
          <a:xfrm>
            <a:off x="6188075" y="1882713"/>
            <a:ext cx="5187950" cy="1470091"/>
          </a:xfrm>
          <a:prstGeom prst="roundRect">
            <a:avLst>
              <a:gd name="adj" fmla="val 6695"/>
            </a:avLst>
          </a:prstGeom>
          <a:solidFill>
            <a:srgbClr val="FFFFFF"/>
          </a:solidFill>
          <a:ln w="6350">
            <a:solidFill>
              <a:srgbClr val="E2DED5"/>
            </a:solidFill>
            <a:prstDash val="solid"/>
          </a:ln>
        </p:spPr>
      </p:sp>
      <p:sp>
        <p:nvSpPr>
          <p:cNvPr id="9" name="Text 7"/>
          <p:cNvSpPr/>
          <p:nvPr/>
        </p:nvSpPr>
        <p:spPr>
          <a:xfrm>
            <a:off x="6392333" y="2086967"/>
            <a:ext cx="492281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FB3"/>
                </a:solidFill>
                <a:latin typeface="IBM Plex Sans" pitchFamily="34" charset="0"/>
                <a:ea typeface="IBM Plex Sans" pitchFamily="34" charset="-122"/>
                <a:cs typeface="IBM Plex Sans" pitchFamily="34" charset="-120"/>
              </a:rPr>
              <a:t>2 · Match</a:t>
            </a:r>
            <a:endParaRPr lang="en-US" sz="1200" dirty="0"/>
          </a:p>
        </p:txBody>
      </p:sp>
      <p:sp>
        <p:nvSpPr>
          <p:cNvPr id="10" name="Text 8"/>
          <p:cNvSpPr/>
          <p:nvPr/>
        </p:nvSpPr>
        <p:spPr>
          <a:xfrm>
            <a:off x="6392333" y="2363788"/>
            <a:ext cx="4922816"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5202E"/>
                </a:solidFill>
                <a:latin typeface="IBM Plex Sans" pitchFamily="34" charset="0"/>
                <a:ea typeface="IBM Plex Sans" pitchFamily="34" charset="-122"/>
                <a:cs typeface="IBM Plex Sans" pitchFamily="34" charset="-120"/>
              </a:rPr>
              <a:t>Hungarian algorithm</a:t>
            </a:r>
            <a:endParaRPr lang="en-US" sz="1700" dirty="0"/>
          </a:p>
        </p:txBody>
      </p:sp>
      <p:sp>
        <p:nvSpPr>
          <p:cNvPr id="11" name="Text 9"/>
          <p:cNvSpPr/>
          <p:nvPr/>
        </p:nvSpPr>
        <p:spPr>
          <a:xfrm>
            <a:off x="6392333" y="2686317"/>
            <a:ext cx="4922816"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pitchFamily="34" charset="0"/>
                <a:ea typeface="IBM Plex Sans" pitchFamily="34" charset="-122"/>
                <a:cs typeface="IBM Plex Sans" pitchFamily="34" charset="-120"/>
              </a:rPr>
              <a:t>Best global pairing of boxes and tracks; cost = 0.6 × look + 0.4 × overlap.</a:t>
            </a:r>
            <a:endParaRPr lang="en-US" sz="1300" dirty="0"/>
          </a:p>
        </p:txBody>
      </p:sp>
      <p:sp>
        <p:nvSpPr>
          <p:cNvPr id="12" name="Shape 10"/>
          <p:cNvSpPr/>
          <p:nvPr/>
        </p:nvSpPr>
        <p:spPr>
          <a:xfrm>
            <a:off x="815975" y="3536950"/>
            <a:ext cx="5187950" cy="1470091"/>
          </a:xfrm>
          <a:prstGeom prst="roundRect">
            <a:avLst>
              <a:gd name="adj" fmla="val 6695"/>
            </a:avLst>
          </a:prstGeom>
          <a:solidFill>
            <a:srgbClr val="FFFFFF"/>
          </a:solidFill>
          <a:ln w="6350">
            <a:solidFill>
              <a:srgbClr val="E2DED5"/>
            </a:solidFill>
            <a:prstDash val="solid"/>
          </a:ln>
        </p:spPr>
      </p:sp>
      <p:sp>
        <p:nvSpPr>
          <p:cNvPr id="13" name="Text 11"/>
          <p:cNvSpPr/>
          <p:nvPr/>
        </p:nvSpPr>
        <p:spPr>
          <a:xfrm>
            <a:off x="1020233" y="3741210"/>
            <a:ext cx="492281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FB3"/>
                </a:solidFill>
                <a:latin typeface="IBM Plex Sans" pitchFamily="34" charset="0"/>
                <a:ea typeface="IBM Plex Sans" pitchFamily="34" charset="-122"/>
                <a:cs typeface="IBM Plex Sans" pitchFamily="34" charset="-120"/>
              </a:rPr>
              <a:t>3 · Guard</a:t>
            </a:r>
            <a:endParaRPr lang="en-US" sz="1200" dirty="0"/>
          </a:p>
        </p:txBody>
      </p:sp>
      <p:sp>
        <p:nvSpPr>
          <p:cNvPr id="14" name="Text 12"/>
          <p:cNvSpPr/>
          <p:nvPr/>
        </p:nvSpPr>
        <p:spPr>
          <a:xfrm>
            <a:off x="1020233" y="4018031"/>
            <a:ext cx="4922816"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5202E"/>
                </a:solidFill>
                <a:latin typeface="IBM Plex Sans" pitchFamily="34" charset="0"/>
                <a:ea typeface="IBM Plex Sans" pitchFamily="34" charset="-122"/>
                <a:cs typeface="IBM Plex Sans" pitchFamily="34" charset="-120"/>
              </a:rPr>
              <a:t>Motion gate + strict Re-ID</a:t>
            </a:r>
            <a:endParaRPr lang="en-US" sz="1700" dirty="0"/>
          </a:p>
        </p:txBody>
      </p:sp>
      <p:sp>
        <p:nvSpPr>
          <p:cNvPr id="15" name="Text 13"/>
          <p:cNvSpPr/>
          <p:nvPr/>
        </p:nvSpPr>
        <p:spPr>
          <a:xfrm>
            <a:off x="1020233" y="4340560"/>
            <a:ext cx="4922816"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pitchFamily="34" charset="0"/>
                <a:ea typeface="IBM Plex Sans" pitchFamily="34" charset="-122"/>
                <a:cs typeface="IBM Plex Sans" pitchFamily="34" charset="-120"/>
              </a:rPr>
              <a:t>A match must be nearby and look alike, so IDs cannot jump across the frame.</a:t>
            </a:r>
            <a:endParaRPr lang="en-US" sz="1300" dirty="0"/>
          </a:p>
        </p:txBody>
      </p:sp>
      <p:sp>
        <p:nvSpPr>
          <p:cNvPr id="16" name="Shape 14"/>
          <p:cNvSpPr/>
          <p:nvPr/>
        </p:nvSpPr>
        <p:spPr>
          <a:xfrm>
            <a:off x="6188075" y="3536950"/>
            <a:ext cx="5187950" cy="1470091"/>
          </a:xfrm>
          <a:prstGeom prst="roundRect">
            <a:avLst>
              <a:gd name="adj" fmla="val 6695"/>
            </a:avLst>
          </a:prstGeom>
          <a:solidFill>
            <a:srgbClr val="FFFFFF"/>
          </a:solidFill>
          <a:ln w="6350">
            <a:solidFill>
              <a:srgbClr val="E2DED5"/>
            </a:solidFill>
            <a:prstDash val="solid"/>
          </a:ln>
        </p:spPr>
      </p:sp>
      <p:sp>
        <p:nvSpPr>
          <p:cNvPr id="17" name="Text 15"/>
          <p:cNvSpPr/>
          <p:nvPr/>
        </p:nvSpPr>
        <p:spPr>
          <a:xfrm>
            <a:off x="6392333" y="3741210"/>
            <a:ext cx="492281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F"/>
                </a:solidFill>
                <a:latin typeface="IBM Plex Sans" pitchFamily="34" charset="0"/>
                <a:ea typeface="IBM Plex Sans" pitchFamily="34" charset="-122"/>
                <a:cs typeface="IBM Plex Sans" pitchFamily="34" charset="-120"/>
              </a:rPr>
              <a:t>4 · Offline rules</a:t>
            </a:r>
            <a:endParaRPr lang="en-US" sz="1200" dirty="0"/>
          </a:p>
        </p:txBody>
      </p:sp>
      <p:sp>
        <p:nvSpPr>
          <p:cNvPr id="18" name="Text 16"/>
          <p:cNvSpPr/>
          <p:nvPr/>
        </p:nvSpPr>
        <p:spPr>
          <a:xfrm>
            <a:off x="6392333" y="4018031"/>
            <a:ext cx="4922816"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5202E"/>
                </a:solidFill>
                <a:latin typeface="IBM Plex Sans" pitchFamily="34" charset="0"/>
                <a:ea typeface="IBM Plex Sans" pitchFamily="34" charset="-122"/>
                <a:cs typeface="IBM Plex Sans" pitchFamily="34" charset="-120"/>
              </a:rPr>
              <a:t>Exit rule + short gap fill</a:t>
            </a:r>
            <a:endParaRPr lang="en-US" sz="1700" dirty="0"/>
          </a:p>
        </p:txBody>
      </p:sp>
      <p:sp>
        <p:nvSpPr>
          <p:cNvPr id="19" name="Text 17"/>
          <p:cNvSpPr/>
          <p:nvPr/>
        </p:nvSpPr>
        <p:spPr>
          <a:xfrm>
            <a:off x="6392333" y="4340560"/>
            <a:ext cx="4922816"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pitchFamily="34" charset="0"/>
                <a:ea typeface="IBM Plex Sans" pitchFamily="34" charset="-122"/>
                <a:cs typeface="IBM Plex Sans" pitchFamily="34" charset="-120"/>
              </a:rPr>
              <a:t>A person who walks out has left; detector drop-outs of ≤5 frames are filled.</a:t>
            </a:r>
            <a:endParaRPr lang="en-US" sz="13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pitchFamily="34" charset="0"/>
                <a:ea typeface="IBM Plex Sans" pitchFamily="34" charset="-122"/>
                <a:cs typeface="IBM Plex Sans" pitchFamily="34" charset="-120"/>
              </a:rPr>
              <a:t>Tony Nguyen · 10</a:t>
            </a:r>
            <a:endParaRPr lang="en-US" sz="1200" dirty="0"/>
          </a:p>
        </p:txBody>
      </p:sp>
      <p:sp>
        <p:nvSpPr>
          <p:cNvPr id="21" name="Text 5"/>
          <p:cNvSpPr/>
          <p:nvPr/>
        </p:nvSpPr>
        <p:spPr>
          <a:xfrm>
            <a:off x="813816" y="5257800"/>
            <a:ext cx="10515600" cy="822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pitchFamily="34" charset="0"/>
                <a:ea typeface="IBM Plex Sans" pitchFamily="34" charset="-122"/>
                <a:cs typeface="IBM Plex Sans" pitchFamily="34" charset="-120"/>
              </a:rPr>
              <a:t>Pipeline B: BoT-SORT does predict, match and guard without appearance. Our repair then cuts a track when the look changes (0.5) and merges tracks that look alike (0.35, gap up to 150 frames).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501F"/>
                </a:solidFill>
                <a:latin typeface="IBM Plex Sans" pitchFamily="34" charset="0"/>
                <a:ea typeface="IBM Plex Sans" pitchFamily="34" charset="-122"/>
                <a:cs typeface="IBM Plex Sans" pitchFamily="34" charset="-120"/>
              </a:rPr>
              <a:t>3 · CURRENT PROGRESS · RESULTS ON MOT16-09 (HELD OUT)</a:t>
            </a:r>
            <a:endParaRPr lang="en-US" sz="1200" dirty="0"/>
          </a:p>
        </p:txBody>
      </p:sp>
      <p:sp>
        <p:nvSpPr>
          <p:cNvPr id="3" name="Text 1"/>
          <p:cNvSpPr/>
          <p:nvPr>
            <p:ph type="title"/>
          </p:nvPr>
        </p:nvSpPr>
        <p:spPr>
          <a:xfrm>
            <a:off x="812800" y="1229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02E"/>
                </a:solidFill>
                <a:latin typeface="Space Grotesk" pitchFamily="34" charset="0"/>
                <a:ea typeface="Space Grotesk" pitchFamily="34" charset="-122"/>
                <a:cs typeface="Space Grotesk" pitchFamily="34" charset="-120"/>
              </a:rPr>
              <a:t>A keeps IDs stable; the repair gives B the best HOTA</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38"/>
          <a:ext cx="6591300" cy="1796521"/>
        </p:xfrm>
        <a:graphic>
          <a:graphicData uri="http://schemas.openxmlformats.org/drawingml/2006/table">
            <a:tbl>
              <a:tblPr/>
              <a:tblGrid>
                <a:gridCol w="3427476"/>
                <a:gridCol w="1054608"/>
                <a:gridCol w="1054608"/>
                <a:gridCol w="1054608"/>
              </a:tblGrid>
              <a:tr h="359304">
                <a:tc>
                  <a:txBody>
                    <a:bodyPr/>
                    <a:lstStyle/>
                    <a:p>
                      <a:pPr indent="0" marL="0">
                        <a:lnSpc>
                          <a:spcPts val="1820"/>
                        </a:lnSpc>
                        <a:buNone/>
                      </a:pPr>
                      <a:r>
                        <a:rPr lang="en-US" sz="1300" b="1" dirty="0">
                          <a:solidFill>
                            <a:srgbClr val="15202E"/>
                          </a:solidFill>
                          <a:latin typeface="IBM Plex Sans" pitchFamily="34" charset="0"/>
                          <a:ea typeface="IBM Plex Sans" pitchFamily="34" charset="-122"/>
                          <a:cs typeface="IBM Plex Sans" pitchFamily="34" charset="-120"/>
                        </a:rPr>
                        <a:t>Run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algn="r" indent="0" marL="0">
                        <a:lnSpc>
                          <a:spcPts val="1820"/>
                        </a:lnSpc>
                        <a:buNone/>
                      </a:pPr>
                      <a:r>
                        <a:rPr lang="en-US" sz="1300" b="1" dirty="0">
                          <a:solidFill>
                            <a:srgbClr val="15202E"/>
                          </a:solidFill>
                          <a:latin typeface="IBM Plex Sans" pitchFamily="34" charset="0"/>
                          <a:ea typeface="IBM Plex Sans" pitchFamily="34" charset="-122"/>
                          <a:cs typeface="IBM Plex Sans" pitchFamily="34" charset="-120"/>
                        </a:rPr>
                        <a:t>HOTA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algn="r" indent="0" marL="0">
                        <a:lnSpc>
                          <a:spcPts val="1820"/>
                        </a:lnSpc>
                        <a:buNone/>
                      </a:pPr>
                      <a:r>
                        <a:rPr lang="en-US" sz="1300" b="1" dirty="0">
                          <a:solidFill>
                            <a:srgbClr val="15202E"/>
                          </a:solidFill>
                          <a:latin typeface="IBM Plex Sans" pitchFamily="34" charset="0"/>
                          <a:ea typeface="IBM Plex Sans" pitchFamily="34" charset="-122"/>
                          <a:cs typeface="IBM Plex Sans" pitchFamily="34" charset="-120"/>
                        </a:rPr>
                        <a:t>IDF1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algn="r" indent="0" marL="0">
                        <a:lnSpc>
                          <a:spcPts val="1820"/>
                        </a:lnSpc>
                        <a:buNone/>
                      </a:pPr>
                      <a:r>
                        <a:rPr lang="en-US" sz="1300" b="1" dirty="0">
                          <a:solidFill>
                            <a:srgbClr val="15202E"/>
                          </a:solidFill>
                          <a:latin typeface="IBM Plex Sans" pitchFamily="34" charset="0"/>
                          <a:ea typeface="IBM Plex Sans" pitchFamily="34" charset="-122"/>
                          <a:cs typeface="IBM Plex Sans" pitchFamily="34" charset="-120"/>
                        </a:rPr>
                        <a:t>ID sw.</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r>
              <a:tr h="359304">
                <a:tc>
                  <a:txBody>
                    <a:bodyPr/>
                    <a:lstStyle/>
                    <a:p>
                      <a:pP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A · published tracks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50.40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60.35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35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B · BoT-SORT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48.40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55.65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46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Hybrid · YOLO in A’s tracker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51.08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62.65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30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B · BoT-SORT + repair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8B8AE"/>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8AE"/>
                      </a:solidFill>
                      <a:prstDash val="solid"/>
                      <a:round/>
                      <a:headEnd type="none" w="med" len="med"/>
                      <a:tailEnd type="none" w="med" len="med"/>
                    </a:lnB>
                    <a:solidFill>
                      <a:srgbClr val="FBE6DA"/>
                    </a:solidFill>
                  </a:tcPr>
                </a:tc>
                <a:tc>
                  <a:txBody>
                    <a:bodyPr/>
                    <a:lstStyle/>
                    <a:p>
                      <a:pPr algn="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55.30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B8AE"/>
                      </a:solidFill>
                      <a:prstDash val="solid"/>
                      <a:round/>
                      <a:headEnd type="none" w="med" len="med"/>
                      <a:tailEnd type="none" w="med" len="med"/>
                    </a:lnL>
                    <a:lnR w="12700" cap="flat" cmpd="sng" algn="ctr">
                      <a:solidFill>
                        <a:srgbClr val="C8B8AE"/>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8AE"/>
                      </a:solidFill>
                      <a:prstDash val="solid"/>
                      <a:round/>
                      <a:headEnd type="none" w="med" len="med"/>
                      <a:tailEnd type="none" w="med" len="med"/>
                    </a:lnB>
                    <a:solidFill>
                      <a:srgbClr val="FBE6DA"/>
                    </a:solidFill>
                  </a:tcPr>
                </a:tc>
                <a:tc>
                  <a:txBody>
                    <a:bodyPr/>
                    <a:lstStyle/>
                    <a:p>
                      <a:pPr algn="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68.04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B8AE"/>
                      </a:solidFill>
                      <a:prstDash val="solid"/>
                      <a:round/>
                      <a:headEnd type="none" w="med" len="med"/>
                      <a:tailEnd type="none" w="med" len="med"/>
                    </a:lnL>
                    <a:lnR w="12700" cap="flat" cmpd="sng" algn="ctr">
                      <a:solidFill>
                        <a:srgbClr val="C8B8AE"/>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8AE"/>
                      </a:solidFill>
                      <a:prstDash val="solid"/>
                      <a:round/>
                      <a:headEnd type="none" w="med" len="med"/>
                      <a:tailEnd type="none" w="med" len="med"/>
                    </a:lnB>
                    <a:solidFill>
                      <a:srgbClr val="FBE6DA"/>
                    </a:solidFill>
                  </a:tcPr>
                </a:tc>
                <a:tc>
                  <a:txBody>
                    <a:bodyPr/>
                    <a:lstStyle/>
                    <a:p>
                      <a:pPr algn="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56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B8AE"/>
                      </a:solidFill>
                      <a:prstDash val="solid"/>
                      <a:round/>
                      <a:headEnd type="none" w="med" len="med"/>
                      <a:tailEnd type="none" w="med" len="med"/>
                    </a:lnL>
                    <a:lnR w="12700" cap="flat" cmpd="sng" algn="ctr">
                      <a:solidFill>
                        <a:srgbClr val="C8B8AE"/>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8AE"/>
                      </a:solidFill>
                      <a:prstDash val="solid"/>
                      <a:round/>
                      <a:headEnd type="none" w="med" len="med"/>
                      <a:tailEnd type="none" w="med" len="med"/>
                    </a:lnB>
                    <a:solidFill>
                      <a:srgbClr val="FBE6DA"/>
                    </a:solidFill>
                  </a:tcPr>
                </a:tc>
              </a:tr>
            </a:tbl>
          </a:graphicData>
        </a:graphic>
      </p:graphicFrame>
      <p:sp>
        <p:nvSpPr>
          <p:cNvPr id="5" name="Text 2"/>
          <p:cNvSpPr/>
          <p:nvPr/>
        </p:nvSpPr>
        <p:spPr>
          <a:xfrm>
            <a:off x="812800" y="3815755"/>
            <a:ext cx="6802120"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pitchFamily="34" charset="0"/>
                <a:ea typeface="IBM Plex Sans" pitchFamily="34" charset="-122"/>
                <a:cs typeface="IBM Plex Sans" pitchFamily="34" charset="-120"/>
              </a:rPr>
              <a:t>HOTA balances finding people and linking them; IDF1 = how long each person keeps one ID. Hybrid = YOLO detections in Pipeline A’s tracker, thresholds 0.6 / 0.5.</a:t>
            </a:r>
            <a:endParaRPr lang="en-US" sz="1300" dirty="0"/>
          </a:p>
        </p:txBody>
      </p:sp>
      <p:sp>
        <p:nvSpPr>
          <p:cNvPr id="6" name="Shape 3"/>
          <p:cNvSpPr/>
          <p:nvPr/>
        </p:nvSpPr>
        <p:spPr>
          <a:xfrm>
            <a:off x="7772400" y="1879538"/>
            <a:ext cx="3606800" cy="1160066"/>
          </a:xfrm>
          <a:prstGeom prst="roundRect">
            <a:avLst>
              <a:gd name="adj" fmla="val 8758"/>
            </a:avLst>
          </a:prstGeom>
          <a:solidFill>
            <a:srgbClr val="15202E"/>
          </a:solidFill>
          <a:ln/>
        </p:spPr>
      </p:sp>
      <p:sp>
        <p:nvSpPr>
          <p:cNvPr id="7" name="Text 4"/>
          <p:cNvSpPr/>
          <p:nvPr/>
        </p:nvSpPr>
        <p:spPr>
          <a:xfrm>
            <a:off x="7975600" y="2082738"/>
            <a:ext cx="3296412" cy="50542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F08A4B"/>
                </a:solidFill>
                <a:latin typeface="Space Grotesk" pitchFamily="34" charset="0"/>
                <a:ea typeface="Space Grotesk" pitchFamily="34" charset="-122"/>
                <a:cs typeface="Space Grotesk" pitchFamily="34" charset="-120"/>
              </a:rPr>
              <a:t>48.40 → 55.30</a:t>
            </a:r>
            <a:endParaRPr lang="en-US" sz="3600" dirty="0"/>
          </a:p>
        </p:txBody>
      </p:sp>
      <p:sp>
        <p:nvSpPr>
          <p:cNvPr id="8" name="Text 5"/>
          <p:cNvSpPr/>
          <p:nvPr/>
        </p:nvSpPr>
        <p:spPr>
          <a:xfrm>
            <a:off x="7975600" y="2613558"/>
            <a:ext cx="3296412"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D2DC"/>
                </a:solidFill>
                <a:latin typeface="IBM Plex Sans" pitchFamily="34" charset="0"/>
                <a:ea typeface="IBM Plex Sans" pitchFamily="34" charset="-122"/>
                <a:cs typeface="IBM Plex Sans" pitchFamily="34" charset="-120"/>
              </a:rPr>
              <a:t>HOTA of Pipeline B with the repair</a:t>
            </a:r>
            <a:endParaRPr lang="en-US" sz="1300" dirty="0"/>
          </a:p>
        </p:txBody>
      </p:sp>
      <p:sp>
        <p:nvSpPr>
          <p:cNvPr id="9" name="Shape 6"/>
          <p:cNvSpPr/>
          <p:nvPr/>
        </p:nvSpPr>
        <p:spPr>
          <a:xfrm>
            <a:off x="7772400" y="3192004"/>
            <a:ext cx="3606800" cy="1382911"/>
          </a:xfrm>
          <a:prstGeom prst="roundRect">
            <a:avLst>
              <a:gd name="adj" fmla="val 7347"/>
            </a:avLst>
          </a:prstGeom>
          <a:solidFill>
            <a:srgbClr val="15202E"/>
          </a:solidFill>
          <a:ln/>
        </p:spPr>
      </p:sp>
      <p:sp>
        <p:nvSpPr>
          <p:cNvPr id="10" name="Text 7"/>
          <p:cNvSpPr/>
          <p:nvPr/>
        </p:nvSpPr>
        <p:spPr>
          <a:xfrm>
            <a:off x="7975600" y="3395204"/>
            <a:ext cx="3296412" cy="505420"/>
          </a:xfrm>
          <a:prstGeom prst="rect">
            <a:avLst/>
          </a:prstGeom>
          <a:noFill/>
          <a:ln/>
        </p:spPr>
        <p:txBody>
          <a:bodyPr wrap="square" lIns="0" tIns="0" rIns="0" bIns="0" rtlCol="0" anchor="t">
            <a:normAutofit/>
          </a:bodyPr>
          <a:lstStyle/>
          <a:p>
            <a:pPr algn="l" indent="0" marL="0">
              <a:lnSpc>
                <a:spcPts val="3780"/>
              </a:lnSpc>
              <a:buNone/>
            </a:pPr>
            <a:r>
              <a:rPr lang="en-US" sz="3600" b="1" dirty="0">
                <a:solidFill>
                  <a:srgbClr val="F6F4EF"/>
                </a:solidFill>
                <a:latin typeface="Space Grotesk" pitchFamily="34" charset="0"/>
                <a:ea typeface="Space Grotesk" pitchFamily="34" charset="-122"/>
                <a:cs typeface="Space Grotesk" pitchFamily="34" charset="-120"/>
              </a:rPr>
              <a:t>46 → 56</a:t>
            </a:r>
            <a:endParaRPr lang="en-US" sz="3600" dirty="0"/>
          </a:p>
        </p:txBody>
      </p:sp>
      <p:sp>
        <p:nvSpPr>
          <p:cNvPr id="11" name="Text 8"/>
          <p:cNvSpPr/>
          <p:nvPr/>
        </p:nvSpPr>
        <p:spPr>
          <a:xfrm>
            <a:off x="7975600" y="3926024"/>
            <a:ext cx="329641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D2DC"/>
                </a:solidFill>
                <a:latin typeface="IBM Plex Sans" pitchFamily="34" charset="0"/>
                <a:ea typeface="IBM Plex Sans" pitchFamily="34" charset="-122"/>
                <a:cs typeface="IBM Plex Sans" pitchFamily="34" charset="-120"/>
              </a:rPr>
              <a:t>ID switches of Pipeline B: the repair also adds switches</a:t>
            </a:r>
            <a:endParaRPr lang="en-US" sz="1300" dirty="0"/>
          </a:p>
        </p:txBody>
      </p:sp>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pitchFamily="34" charset="0"/>
                <a:ea typeface="IBM Plex Sans" pitchFamily="34" charset="-122"/>
                <a:cs typeface="IBM Plex Sans" pitchFamily="34" charset="-120"/>
              </a:rPr>
              <a:t>Tony Nguyen · 11</a:t>
            </a:r>
            <a:endParaRPr lang="en-US" sz="1200" dirty="0"/>
          </a:p>
        </p:txBody>
      </p:sp>
      <p:sp>
        <p:nvSpPr>
          <p:cNvPr id="13" name="Text 2"/>
          <p:cNvSpPr/>
          <p:nvPr/>
        </p:nvSpPr>
        <p:spPr>
          <a:xfrm>
            <a:off x="812800" y="4480560"/>
            <a:ext cx="6766560" cy="9144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pitchFamily="34" charset="0"/>
                <a:ea typeface="IBM Plex Sans" pitchFamily="34" charset="-122"/>
                <a:cs typeface="IBM Plex Sans" pitchFamily="34" charset="-120"/>
              </a:rPr>
              <a:t>Detection and ReID: AP@0.5 0.7896 (B) vs 0.7798 (A); ReID Rank-1 0.922 (B) vs 0.767 (A) on a common test. All settings were tuned on this video, so scores are optimistic.</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5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8A4B"/>
                </a:solidFill>
                <a:latin typeface="IBM Plex Sans" pitchFamily="34" charset="0"/>
                <a:ea typeface="IBM Plex Sans" pitchFamily="34" charset="-122"/>
                <a:cs typeface="IBM Plex Sans" pitchFamily="34" charset="-120"/>
              </a:rPr>
              <a:t>DEMO · TARGET VIDEOS (CLICK A VIDEO TO PLAY)</a:t>
            </a:r>
            <a:endParaRPr lang="en-US" sz="1200" dirty="0"/>
          </a:p>
        </p:txBody>
      </p:sp>
      <p:sp>
        <p:nvSpPr>
          <p:cNvPr id="3" name="Text 1"/>
          <p:cNvSpPr/>
          <p:nvPr/>
        </p:nvSpPr>
        <p:spPr>
          <a:xfrm>
            <a:off x="812800" y="1254720"/>
            <a:ext cx="5551590" cy="1295400"/>
          </a:xfrm>
          <a:prstGeom prst="rect">
            <a:avLst/>
          </a:prstGeom>
          <a:noFill/>
          <a:ln/>
        </p:spPr>
        <p:txBody>
          <a:bodyPr wrap="none" lIns="0" tIns="0" rIns="0" bIns="0" rtlCol="0" anchor="t">
            <a:normAutofit/>
          </a:bodyPr>
          <a:lstStyle/>
          <a:p>
            <a:pPr algn="l" indent="0" marL="0">
              <a:lnSpc>
                <a:spcPts val="10000"/>
              </a:lnSpc>
              <a:buNone/>
            </a:pPr>
            <a:r>
              <a:rPr lang="en-US" sz="10000" b="1" dirty="0">
                <a:solidFill>
                  <a:srgbClr val="F08A4B"/>
                </a:solidFill>
                <a:latin typeface="Space Grotesk" pitchFamily="34" charset="0"/>
                <a:ea typeface="Space Grotesk" pitchFamily="34" charset="-122"/>
                <a:cs typeface="Space Grotesk" pitchFamily="34" charset="-120"/>
              </a:rPr>
              <a:t>361 / 361</a:t>
            </a:r>
            <a:endParaRPr lang="en-US" sz="10000" dirty="0"/>
          </a:p>
        </p:txBody>
      </p:sp>
      <p:sp>
        <p:nvSpPr>
          <p:cNvPr id="4" name="Text 2"/>
          <p:cNvSpPr/>
          <p:nvPr/>
        </p:nvSpPr>
        <p:spPr>
          <a:xfrm>
            <a:off x="6609093" y="1599009"/>
            <a:ext cx="4913210" cy="95111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F6F4EF"/>
                </a:solidFill>
                <a:latin typeface="IBM Plex Sans" pitchFamily="34" charset="0"/>
                <a:ea typeface="IBM Plex Sans" pitchFamily="34" charset="-122"/>
                <a:cs typeface="IBM Plex Sans" pitchFamily="34" charset="-120"/>
              </a:rPr>
              <a:t>Pipeline A · MOT16-01 · ID 11: frames with a box, one ID, until he walks out on the right edge</a:t>
            </a:r>
            <a:endParaRPr lang="en-US" sz="1800" dirty="0"/>
          </a:p>
        </p:txBody>
      </p:sp>
      <p:sp>
        <p:nvSpPr>
          <p:cNvPr id="7" name="Text 4"/>
          <p:cNvSpPr/>
          <p:nvPr/>
        </p:nvSpPr>
        <p:spPr>
          <a:xfrm>
            <a:off x="813816" y="5870448"/>
            <a:ext cx="1060704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2DC"/>
                </a:solidFill>
                <a:latin typeface="IBM Plex Sans" pitchFamily="34" charset="0"/>
                <a:ea typeface="IBM Plex Sans" pitchFamily="34" charset="-122"/>
                <a:cs typeface="IBM Plex Sans" pitchFamily="34" charset="-120"/>
              </a:rPr>
              <a:t>Backup links: </a:t>
            </a:r>
            <a:r>
              <a:rPr lang="en-US" sz="1400" dirty="0" u="sng">
                <a:solidFill>
                  <a:srgbClr val="C9D2DC"/>
                </a:solidFill>
                <a:latin typeface="IBM Plex Sans" pitchFamily="34" charset="0"/>
                <a:ea typeface="IBM Plex Sans" pitchFamily="34" charset="-122"/>
                <a:cs typeface="IBM Plex Sans" pitchFamily="34" charset="-120"/>
                <a:hlinkClick r:id="rId10">
                  <a:extLst>
                    <a:ext uri="{A12FA001-AC4F-418D-AE19-62706E023703}">
                      <ahyp:hlinkClr xmlns:ahyp="http://schemas.microsoft.com/office/drawing/2018/hyperlinkcolor" val="tx"/>
                    </a:ext>
                  </a:extLst>
                </a:hlinkClick>
              </a:rPr>
              <a:t>MOT16-01 target video (GitHub)</a:t>
            </a:r>
            <a:r>
              <a:rPr lang="en-US" sz="1400" dirty="0">
                <a:solidFill>
                  <a:srgbClr val="C9D2DC"/>
                </a:solidFill>
                <a:latin typeface="IBM Plex Sans" pitchFamily="34" charset="0"/>
                <a:ea typeface="IBM Plex Sans" pitchFamily="34" charset="-122"/>
                <a:cs typeface="IBM Plex Sans" pitchFamily="34" charset="-120"/>
              </a:rPr>
              <a:t>  ·  </a:t>
            </a:r>
            <a:r>
              <a:rPr lang="en-US" sz="1400" dirty="0" u="sng">
                <a:solidFill>
                  <a:srgbClr val="C9D2DC"/>
                </a:solidFill>
                <a:latin typeface="IBM Plex Sans" pitchFamily="34" charset="0"/>
                <a:ea typeface="IBM Plex Sans" pitchFamily="34" charset="-122"/>
                <a:cs typeface="IBM Plex Sans" pitchFamily="34" charset="-120"/>
                <a:hlinkClick r:id="rId11">
                  <a:extLst>
                    <a:ext uri="{A12FA001-AC4F-418D-AE19-62706E023703}">
                      <ahyp:hlinkClr xmlns:ahyp="http://schemas.microsoft.com/office/drawing/2018/hyperlinkcolor" val="tx"/>
                    </a:ext>
                  </a:extLst>
                </a:hlinkClick>
              </a:rPr>
              <a:t>MOT16-14 target video and results folder (Google Drive)</a:t>
            </a:r>
            <a:endParaRPr lang="en-US" sz="14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7B6"/>
                </a:solidFill>
                <a:latin typeface="IBM Plex Sans" pitchFamily="34" charset="0"/>
                <a:ea typeface="IBM Plex Sans" pitchFamily="34" charset="-122"/>
                <a:cs typeface="IBM Plex Sans" pitchFamily="34" charset="-120"/>
              </a:rPr>
              <a:t>Bosia N’dri · 14</a:t>
            </a:r>
            <a:endParaRPr lang="en-US" sz="1200" dirty="0"/>
          </a:p>
        </p:txBody>
      </p:sp>
      <p:pic>
        <p:nvPicPr>
          <p:cNvPr id="9" name="A_MOT16-01_target.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6"/>
          <a:stretch>
            <a:fillRect/>
          </a:stretch>
        </p:blipFill>
        <p:spPr>
          <a:xfrm>
            <a:off x="813816" y="2697480"/>
            <a:ext cx="4937760" cy="2779776"/>
          </a:xfrm>
          <a:prstGeom prst="rect">
            <a:avLst/>
          </a:prstGeom>
        </p:spPr>
      </p:pic>
      <p:pic>
        <p:nvPicPr>
          <p:cNvPr id="10" name="B_MOT16-14_target.mp4">
            <a:hlinkClick r:id="" action="ppaction://media"/>
          </p:cNvPr>
          <p:cNvPicPr>
            <a:picLocks noChangeAspect="1"/>
          </p:cNvPicPr>
          <p:nvPr>
            <a:videoFile r:link="rId8"/>
            <p:extLst>
              <p:ext uri="{DAA4B4D4-6D71-4841-9C94-3DE7FCFB9230}">
                <p14:media xmlns:p14="http://schemas.microsoft.com/office/powerpoint/2010/main" r:embed="rId7"/>
              </p:ext>
            </p:extLst>
          </p:nvPr>
        </p:nvPicPr>
        <p:blipFill>
          <a:blip r:embed="rId9"/>
          <a:stretch>
            <a:fillRect/>
          </a:stretch>
        </p:blipFill>
        <p:spPr>
          <a:xfrm>
            <a:off x="6437376" y="2697480"/>
            <a:ext cx="4937760" cy="2779776"/>
          </a:xfrm>
          <a:prstGeom prst="rect">
            <a:avLst/>
          </a:prstGeom>
        </p:spPr>
      </p:pic>
      <p:sp>
        <p:nvSpPr>
          <p:cNvPr id="11" name="Text 4"/>
          <p:cNvSpPr/>
          <p:nvPr/>
        </p:nvSpPr>
        <p:spPr>
          <a:xfrm>
            <a:off x="813816" y="5513832"/>
            <a:ext cx="493776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2DC"/>
                </a:solidFill>
                <a:latin typeface="IBM Plex Sans" pitchFamily="34" charset="0"/>
                <a:ea typeface="IBM Plex Sans" pitchFamily="34" charset="-122"/>
                <a:cs typeface="IBM Plex Sans" pitchFamily="34" charset="-120"/>
              </a:rPr>
              <a:t>Pipeline A · MOT16-01 · target ID 11</a:t>
            </a:r>
            <a:endParaRPr lang="en-US" sz="1400" dirty="0"/>
          </a:p>
        </p:txBody>
      </p:sp>
      <p:sp>
        <p:nvSpPr>
          <p:cNvPr id="12" name="Text 4"/>
          <p:cNvSpPr/>
          <p:nvPr/>
        </p:nvSpPr>
        <p:spPr>
          <a:xfrm>
            <a:off x="6437376" y="5513832"/>
            <a:ext cx="493776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2DC"/>
                </a:solidFill>
                <a:latin typeface="IBM Plex Sans" pitchFamily="34" charset="0"/>
                <a:ea typeface="IBM Plex Sans" pitchFamily="34" charset="-122"/>
                <a:cs typeface="IBM Plex Sans" pitchFamily="34" charset="-120"/>
              </a:rPr>
              <a:t>Pipeline B · MOT16-14 · moving camera · target ID 215</a:t>
            </a:r>
            <a:endParaRPr lang="en-US" sz="1400" dirty="0"/>
          </a:p>
        </p:txBody>
      </p:sp>
    </p:spTree>
  </p:cSld>
  <p:clrMapOvr>
    <a:masterClrMapping/>
  </p:clrMapOvr>
  <p:timing>
    <p:tnLst>
      <p:par>
        <p:cTn id="1" dur="indefinite" restart="never" nodeType="tmRoot">
          <p:childTnLst>
            <p:video>
              <p:cMediaNode vol="80000">
                <p:cTn id="2" fill="hold" display="0">
                  <p:stCondLst>
                    <p:cond delay="indefinite"/>
                  </p:stCondLst>
                </p:cTn>
                <p:tgtEl>
                  <p:spTgt spid="9"/>
                </p:tgtEl>
              </p:cMediaNode>
            </p:video>
            <p:video>
              <p:cMediaNode vol="80000">
                <p:cTn id="3" fill="hold" display="0">
                  <p:stCondLst>
                    <p:cond delay="indefinite"/>
                  </p:stCondLst>
                </p:cTn>
                <p:tgtEl>
                  <p:spTgt spid="10"/>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501F"/>
                </a:solidFill>
                <a:latin typeface="IBM Plex Sans" pitchFamily="34" charset="0"/>
                <a:ea typeface="IBM Plex Sans" pitchFamily="34" charset="-122"/>
                <a:cs typeface="IBM Plex Sans" pitchFamily="34" charset="-120"/>
              </a:rPr>
              <a:t>3 · CURRENT PROGRESS · WHAT GOES WRONG</a:t>
            </a:r>
            <a:endParaRPr lang="en-US" sz="1200" dirty="0"/>
          </a:p>
        </p:txBody>
      </p:sp>
      <p:sp>
        <p:nvSpPr>
          <p:cNvPr id="3" name="Text 1"/>
          <p:cNvSpPr/>
          <p:nvPr>
            <p:ph type="title"/>
          </p:nvPr>
        </p:nvSpPr>
        <p:spPr>
          <a:xfrm>
            <a:off x="812800" y="12039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02E"/>
                </a:solidFill>
                <a:latin typeface="Space Grotesk" pitchFamily="34" charset="0"/>
                <a:ea typeface="Space Grotesk" pitchFamily="34" charset="-122"/>
                <a:cs typeface="Space Grotesk" pitchFamily="34" charset="-120"/>
              </a:rPr>
              <a:t>Most people still get several IDs</a:t>
            </a:r>
            <a:endParaRPr lang="en-US" sz="3200" dirty="0"/>
          </a:p>
        </p:txBody>
      </p:sp>
      <p:sp>
        <p:nvSpPr>
          <p:cNvPr id="6" name="Text 3"/>
          <p:cNvSpPr/>
          <p:nvPr/>
        </p:nvSpPr>
        <p:spPr>
          <a:xfrm>
            <a:off x="7772400" y="1965960"/>
            <a:ext cx="3657600"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pitchFamily="34" charset="0"/>
                <a:ea typeface="IBM Plex Sans" pitchFamily="34" charset="-122"/>
                <a:cs typeface="IBM Plex Sans" pitchFamily="34" charset="-120"/>
              </a:rPr>
              <a:t>18 long-lived people (at least 100 frames). Perfect = one ID covering at least 90% of their frames.</a:t>
            </a:r>
            <a:endParaRPr lang="en-US" sz="1300" dirty="0"/>
          </a:p>
        </p:txBody>
      </p:sp>
      <p:sp>
        <p:nvSpPr>
          <p:cNvPr id="7" name="Shape 4"/>
          <p:cNvSpPr/>
          <p:nvPr/>
        </p:nvSpPr>
        <p:spPr>
          <a:xfrm>
            <a:off x="815975" y="4180143"/>
            <a:ext cx="3397250" cy="1063757"/>
          </a:xfrm>
          <a:prstGeom prst="roundRect">
            <a:avLst>
              <a:gd name="adj" fmla="val 9253"/>
            </a:avLst>
          </a:prstGeom>
          <a:solidFill>
            <a:srgbClr val="FFFFFF"/>
          </a:solidFill>
          <a:ln w="6350">
            <a:solidFill>
              <a:srgbClr val="E2DED5"/>
            </a:solidFill>
            <a:prstDash val="solid"/>
          </a:ln>
        </p:spPr>
        <p:txBody>
          <a:bodyPr/>
          <a:p/>
        </p:txBody>
      </p:sp>
      <p:sp>
        <p:nvSpPr>
          <p:cNvPr id="8" name="Text 5"/>
          <p:cNvSpPr/>
          <p:nvPr/>
        </p:nvSpPr>
        <p:spPr>
          <a:xfrm>
            <a:off x="994833" y="4358997"/>
            <a:ext cx="313071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202E"/>
                </a:solidFill>
                <a:latin typeface="IBM Plex Sans" pitchFamily="34" charset="0"/>
                <a:ea typeface="IBM Plex Sans" pitchFamily="34" charset="-122"/>
                <a:cs typeface="IBM Plex Sans" pitchFamily="34" charset="-120"/>
              </a:rPr>
              <a:t>Pole occlusion</a:t>
            </a:r>
            <a:endParaRPr lang="en-US" sz="1500" dirty="0"/>
          </a:p>
        </p:txBody>
      </p:sp>
      <p:sp>
        <p:nvSpPr>
          <p:cNvPr id="9" name="Text 6"/>
          <p:cNvSpPr/>
          <p:nvPr/>
        </p:nvSpPr>
        <p:spPr>
          <a:xfrm>
            <a:off x="994833" y="4638397"/>
            <a:ext cx="313071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A man behind a light pole came back with a new ID (IDs 235 and 263).</a:t>
            </a:r>
            <a:endParaRPr lang="en-US" sz="1200" dirty="0"/>
          </a:p>
        </p:txBody>
      </p:sp>
      <p:sp>
        <p:nvSpPr>
          <p:cNvPr id="10" name="Shape 7"/>
          <p:cNvSpPr/>
          <p:nvPr/>
        </p:nvSpPr>
        <p:spPr>
          <a:xfrm>
            <a:off x="4397375" y="4180143"/>
            <a:ext cx="3397250" cy="1063757"/>
          </a:xfrm>
          <a:prstGeom prst="roundRect">
            <a:avLst>
              <a:gd name="adj" fmla="val 9253"/>
            </a:avLst>
          </a:prstGeom>
          <a:solidFill>
            <a:srgbClr val="FFFFFF"/>
          </a:solidFill>
          <a:ln w="6350">
            <a:solidFill>
              <a:srgbClr val="E2DED5"/>
            </a:solidFill>
            <a:prstDash val="solid"/>
          </a:ln>
        </p:spPr>
        <p:txBody>
          <a:bodyPr/>
          <a:p/>
        </p:txBody>
      </p:sp>
      <p:sp>
        <p:nvSpPr>
          <p:cNvPr id="11" name="Text 8"/>
          <p:cNvSpPr/>
          <p:nvPr/>
        </p:nvSpPr>
        <p:spPr>
          <a:xfrm>
            <a:off x="4576233" y="4358997"/>
            <a:ext cx="313071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202E"/>
                </a:solidFill>
                <a:latin typeface="IBM Plex Sans" pitchFamily="34" charset="0"/>
                <a:ea typeface="IBM Plex Sans" pitchFamily="34" charset="-122"/>
                <a:cs typeface="IBM Plex Sans" pitchFamily="34" charset="-120"/>
              </a:rPr>
              <a:t>False tracks</a:t>
            </a:r>
            <a:endParaRPr lang="en-US" sz="1500" dirty="0"/>
          </a:p>
        </p:txBody>
      </p:sp>
      <p:sp>
        <p:nvSpPr>
          <p:cNvPr id="12" name="Text 9"/>
          <p:cNvSpPr/>
          <p:nvPr/>
        </p:nvSpPr>
        <p:spPr>
          <a:xfrm>
            <a:off x="4576233" y="4638397"/>
            <a:ext cx="313071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Two boxes with no person (IDs 144, 154) near a lit entrance cover.</a:t>
            </a:r>
            <a:endParaRPr lang="en-US" sz="1200" dirty="0"/>
          </a:p>
        </p:txBody>
      </p:sp>
      <p:sp>
        <p:nvSpPr>
          <p:cNvPr id="13" name="Shape 10"/>
          <p:cNvSpPr/>
          <p:nvPr/>
        </p:nvSpPr>
        <p:spPr>
          <a:xfrm>
            <a:off x="7978775" y="4180143"/>
            <a:ext cx="3397250" cy="1063757"/>
          </a:xfrm>
          <a:prstGeom prst="roundRect">
            <a:avLst>
              <a:gd name="adj" fmla="val 9253"/>
            </a:avLst>
          </a:prstGeom>
          <a:solidFill>
            <a:srgbClr val="FFFFFF"/>
          </a:solidFill>
          <a:ln w="6350">
            <a:solidFill>
              <a:srgbClr val="E2DED5"/>
            </a:solidFill>
            <a:prstDash val="solid"/>
          </a:ln>
        </p:spPr>
        <p:txBody>
          <a:bodyPr/>
          <a:p/>
        </p:txBody>
      </p:sp>
      <p:sp>
        <p:nvSpPr>
          <p:cNvPr id="14" name="Text 11"/>
          <p:cNvSpPr/>
          <p:nvPr/>
        </p:nvSpPr>
        <p:spPr>
          <a:xfrm>
            <a:off x="8157634" y="4358997"/>
            <a:ext cx="313071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5202E"/>
                </a:solidFill>
                <a:latin typeface="IBM Plex Sans" pitchFamily="34" charset="0"/>
                <a:ea typeface="IBM Plex Sans" pitchFamily="34" charset="-122"/>
                <a:cs typeface="IBM Plex Sans" pitchFamily="34" charset="-120"/>
              </a:rPr>
              <a:t>Static people missed</a:t>
            </a:r>
            <a:endParaRPr lang="en-US" sz="1500" dirty="0"/>
          </a:p>
        </p:txBody>
      </p:sp>
      <p:sp>
        <p:nvSpPr>
          <p:cNvPr id="15" name="Text 12"/>
          <p:cNvSpPr/>
          <p:nvPr/>
        </p:nvSpPr>
        <p:spPr>
          <a:xfrm>
            <a:off x="8157634" y="4638397"/>
            <a:ext cx="313071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People who sit or stand still are not detected (likely not in our training labels; not tested).</a:t>
            </a:r>
            <a:endParaRPr lang="en-US" sz="1200" dirty="0"/>
          </a:p>
        </p:txBody>
      </p:sp>
      <p:sp>
        <p:nvSpPr>
          <p:cNvPr id="16"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pitchFamily="34" charset="0"/>
                <a:ea typeface="IBM Plex Sans" pitchFamily="34" charset="-122"/>
                <a:cs typeface="IBM Plex Sans" pitchFamily="34" charset="-120"/>
              </a:rPr>
              <a:t>Rehan Ali · 13</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22960" y="1892807"/>
          <a:ext cx="6591300" cy="1796521"/>
        </p:xfrm>
        <a:graphic>
          <a:graphicData uri="http://schemas.openxmlformats.org/drawingml/2006/table">
            <a:tbl>
              <a:tblPr/>
              <a:tblGrid>
                <a:gridCol w="3427476"/>
                <a:gridCol w="1054608"/>
                <a:gridCol w="1054608"/>
                <a:gridCol w="1054608"/>
              </a:tblGrid>
              <a:tr h="359304">
                <a:tc>
                  <a:txBody>
                    <a:bodyPr/>
                    <a:lstStyle/>
                    <a:p>
                      <a:pPr indent="0" marL="0">
                        <a:lnSpc>
                          <a:spcPts val="1820"/>
                        </a:lnSpc>
                        <a:buNone/>
                      </a:pPr>
                      <a:r>
                        <a:rPr lang="en-US" sz="1300" b="1" dirty="0">
                          <a:solidFill>
                            <a:srgbClr val="15202E"/>
                          </a:solidFill>
                          <a:latin typeface="IBM Plex Sans" pitchFamily="34" charset="0"/>
                          <a:ea typeface="IBM Plex Sans" pitchFamily="34" charset="-122"/>
                          <a:cs typeface="IBM Plex Sans" pitchFamily="34" charset="-120"/>
                        </a:rPr>
                        <a:t>Run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algn="r" indent="0" marL="0">
                        <a:lnSpc>
                          <a:spcPts val="1820"/>
                        </a:lnSpc>
                        <a:buNone/>
                      </a:pPr>
                      <a:r>
                        <a:rPr lang="en-US" sz="1300" b="1" dirty="0">
                          <a:solidFill>
                            <a:srgbClr val="15202E"/>
                          </a:solidFill>
                          <a:latin typeface="IBM Plex Sans" pitchFamily="34" charset="0"/>
                          <a:ea typeface="IBM Plex Sans" pitchFamily="34" charset="-122"/>
                          <a:cs typeface="IBM Plex Sans" pitchFamily="34" charset="-120"/>
                        </a:rPr>
                        <a:t>One ID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algn="r" indent="0" marL="0">
                        <a:lnSpc>
                          <a:spcPts val="1820"/>
                        </a:lnSpc>
                        <a:buNone/>
                      </a:pPr>
                      <a:r>
                        <a:rPr lang="en-US" sz="1300" b="1" dirty="0">
                          <a:solidFill>
                            <a:srgbClr val="15202E"/>
                          </a:solidFill>
                          <a:latin typeface="IBM Plex Sans" pitchFamily="34" charset="0"/>
                          <a:ea typeface="IBM Plex Sans" pitchFamily="34" charset="-122"/>
                          <a:cs typeface="IBM Plex Sans" pitchFamily="34" charset="-120"/>
                        </a:rPr>
                        <a:t>Perfect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algn="r" indent="0" marL="0">
                        <a:lnSpc>
                          <a:spcPts val="1820"/>
                        </a:lnSpc>
                        <a:buNone/>
                      </a:pPr>
                      <a:r>
                        <a:rPr lang="en-US" sz="1300" b="1" dirty="0">
                          <a:solidFill>
                            <a:srgbClr val="15202E"/>
                          </a:solidFill>
                          <a:latin typeface="IBM Plex Sans" pitchFamily="34" charset="0"/>
                          <a:ea typeface="IBM Plex Sans" pitchFamily="34" charset="-122"/>
                          <a:cs typeface="IBM Plex Sans" pitchFamily="34" charset="-120"/>
                        </a:rPr>
                        <a:t>IDs/person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r>
              <a:tr h="359304">
                <a:tc>
                  <a:txBody>
                    <a:bodyPr/>
                    <a:lstStyle/>
                    <a:p>
                      <a:pP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A · published tracks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2.94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B · BoT-SORT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3.50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B · BoT-SORT + repair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algn="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3.78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Hybrid · YOLO in A’s tracker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8B8AE"/>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8AE"/>
                      </a:solidFill>
                      <a:prstDash val="solid"/>
                      <a:round/>
                      <a:headEnd type="none" w="med" len="med"/>
                      <a:tailEnd type="none" w="med" len="med"/>
                    </a:lnB>
                    <a:solidFill>
                      <a:srgbClr val="FBE6DA"/>
                    </a:solidFill>
                  </a:tcPr>
                </a:tc>
                <a:tc>
                  <a:txBody>
                    <a:bodyPr/>
                    <a:lstStyle/>
                    <a:p>
                      <a:pPr algn="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B8AE"/>
                      </a:solidFill>
                      <a:prstDash val="solid"/>
                      <a:round/>
                      <a:headEnd type="none" w="med" len="med"/>
                      <a:tailEnd type="none" w="med" len="med"/>
                    </a:lnL>
                    <a:lnR w="12700" cap="flat" cmpd="sng" algn="ctr">
                      <a:solidFill>
                        <a:srgbClr val="C8B8AE"/>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8AE"/>
                      </a:solidFill>
                      <a:prstDash val="solid"/>
                      <a:round/>
                      <a:headEnd type="none" w="med" len="med"/>
                      <a:tailEnd type="none" w="med" len="med"/>
                    </a:lnB>
                    <a:solidFill>
                      <a:srgbClr val="FBE6DA"/>
                    </a:solidFill>
                  </a:tcPr>
                </a:tc>
                <a:tc>
                  <a:txBody>
                    <a:bodyPr/>
                    <a:lstStyle/>
                    <a:p>
                      <a:pPr algn="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B8AE"/>
                      </a:solidFill>
                      <a:prstDash val="solid"/>
                      <a:round/>
                      <a:headEnd type="none" w="med" len="med"/>
                      <a:tailEnd type="none" w="med" len="med"/>
                    </a:lnL>
                    <a:lnR w="12700" cap="flat" cmpd="sng" algn="ctr">
                      <a:solidFill>
                        <a:srgbClr val="C8B8AE"/>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8AE"/>
                      </a:solidFill>
                      <a:prstDash val="solid"/>
                      <a:round/>
                      <a:headEnd type="none" w="med" len="med"/>
                      <a:tailEnd type="none" w="med" len="med"/>
                    </a:lnB>
                    <a:solidFill>
                      <a:srgbClr val="FBE6DA"/>
                    </a:solidFill>
                  </a:tcPr>
                </a:tc>
                <a:tc>
                  <a:txBody>
                    <a:bodyPr/>
                    <a:lstStyle/>
                    <a:p>
                      <a:pPr algn="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2.78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B8AE"/>
                      </a:solidFill>
                      <a:prstDash val="solid"/>
                      <a:round/>
                      <a:headEnd type="none" w="med" len="med"/>
                      <a:tailEnd type="none" w="med" len="med"/>
                    </a:lnL>
                    <a:lnR w="12700" cap="flat" cmpd="sng" algn="ctr">
                      <a:solidFill>
                        <a:srgbClr val="C8B8AE"/>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8B8AE"/>
                      </a:solidFill>
                      <a:prstDash val="solid"/>
                      <a:round/>
                      <a:headEnd type="none" w="med" len="med"/>
                      <a:tailEnd type="none" w="med" len="med"/>
                    </a:lnB>
                    <a:solidFill>
                      <a:srgbClr val="FBE6DA"/>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501F"/>
                </a:solidFill>
                <a:latin typeface="IBM Plex Sans" pitchFamily="34" charset="0"/>
                <a:ea typeface="IBM Plex Sans" pitchFamily="34" charset="-122"/>
                <a:cs typeface="IBM Plex Sans" pitchFamily="34" charset="-120"/>
              </a:rPr>
              <a:t>1 · WORKLOAD DISTRIBUTION</a:t>
            </a:r>
            <a:endParaRPr lang="en-US" sz="1200" dirty="0"/>
          </a:p>
        </p:txBody>
      </p:sp>
      <p:sp>
        <p:nvSpPr>
          <p:cNvPr id="3" name="Text 1"/>
          <p:cNvSpPr/>
          <p:nvPr>
            <p:ph type="title"/>
          </p:nvPr>
        </p:nvSpPr>
        <p:spPr>
          <a:xfrm>
            <a:off x="812800" y="1229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02E"/>
                </a:solidFill>
                <a:latin typeface="Space Grotesk" pitchFamily="34" charset="0"/>
                <a:ea typeface="Space Grotesk" pitchFamily="34" charset="-122"/>
                <a:cs typeface="Space Grotesk" pitchFamily="34" charset="-120"/>
              </a:rPr>
              <a:t>Who is responsible for what</a:t>
            </a:r>
            <a:endParaRPr lang="en-US" sz="3200" dirty="0"/>
          </a:p>
        </p:txBody>
      </p:sp>
      <p:sp>
        <p:nvSpPr>
          <p:cNvPr id="4" name="Text 2"/>
          <p:cNvSpPr/>
          <p:nvPr/>
        </p:nvSpPr>
        <p:spPr>
          <a:xfrm>
            <a:off x="812800" y="1879538"/>
            <a:ext cx="5755640"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5202E"/>
                </a:solidFill>
                <a:latin typeface="IBM Plex Sans" pitchFamily="34" charset="0"/>
                <a:ea typeface="IBM Plex Sans" pitchFamily="34" charset="-122"/>
                <a:cs typeface="IBM Plex Sans" pitchFamily="34" charset="-120"/>
              </a:rPr>
              <a:t>Workload</a:t>
            </a:r>
            <a:endParaRPr lang="en-US" sz="1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252861"/>
          <a:ext cx="5575300" cy="1668330"/>
        </p:xfrm>
        <a:graphic>
          <a:graphicData uri="http://schemas.openxmlformats.org/drawingml/2006/table">
            <a:tbl>
              <a:tblPr/>
              <a:tblGrid>
                <a:gridCol w="1672590"/>
                <a:gridCol w="3902710"/>
              </a:tblGrid>
              <a:tr h="359304">
                <a:tc>
                  <a:txBody>
                    <a:bodyPr/>
                    <a:lstStyle/>
                    <a:p>
                      <a:pPr indent="0" marL="0">
                        <a:lnSpc>
                          <a:spcPts val="1820"/>
                        </a:lnSpc>
                        <a:buNone/>
                      </a:pPr>
                      <a:r>
                        <a:rPr lang="en-US" sz="1300" b="1" dirty="0">
                          <a:solidFill>
                            <a:srgbClr val="15202E"/>
                          </a:solidFill>
                          <a:latin typeface="IBM Plex Sans" pitchFamily="34" charset="0"/>
                          <a:ea typeface="IBM Plex Sans" pitchFamily="34" charset="-122"/>
                          <a:cs typeface="IBM Plex Sans" pitchFamily="34" charset="-120"/>
                        </a:rPr>
                        <a:t>Member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indent="0" marL="0">
                        <a:lnSpc>
                          <a:spcPts val="1820"/>
                        </a:lnSpc>
                        <a:buNone/>
                      </a:pPr>
                      <a:r>
                        <a:rPr lang="en-US" sz="1300" b="1" dirty="0">
                          <a:solidFill>
                            <a:srgbClr val="15202E"/>
                          </a:solidFill>
                          <a:latin typeface="IBM Plex Sans" pitchFamily="34" charset="0"/>
                          <a:ea typeface="IBM Plex Sans" pitchFamily="34" charset="-122"/>
                          <a:cs typeface="IBM Plex Sans" pitchFamily="34" charset="-120"/>
                        </a:rPr>
                        <a:t>Main work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r>
              <a:tr h="590418">
                <a:tc>
                  <a:txBody>
                    <a:bodyPr/>
                    <a:lstStyle/>
                    <a:p>
                      <a:pP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Rehan Ali</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Pipeline A: design and integration, own tracker (Kalman, Hungarian, gating), own metric code, MOT16-01 target video; contact with the professor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Bosia N’dri</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Pipeline A models: Faster R-CNN fine-tuning, Siamese ReID training; midterm demo and closing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Tony Nguyen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Pipeline B: YOLO fine-tuning, ReID model, repair step; TrackEval evaluation; comparison of both pipelines; combined report draft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6" name="Text 3"/>
          <p:cNvSpPr/>
          <p:nvPr/>
        </p:nvSpPr>
        <p:spPr>
          <a:xfrm>
            <a:off x="812800" y="4983480"/>
            <a:ext cx="57556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pitchFamily="34" charset="0"/>
                <a:ea typeface="IBM Plex Sans" pitchFamily="34" charset="-122"/>
                <a:cs typeface="IBM Plex Sans" pitchFamily="34" charset="-120"/>
              </a:rPr>
              <a:t>Pipeline A code and notebooks 01–05: Pipeline A repository. Pipeline B notebooks 01–07, report and deck: this repository.</a:t>
            </a:r>
            <a:endParaRPr lang="en-US" sz="1200" dirty="0"/>
          </a:p>
        </p:txBody>
      </p:sp>
      <p:sp>
        <p:nvSpPr>
          <p:cNvPr id="7" name="Text 4"/>
          <p:cNvSpPr/>
          <p:nvPr/>
        </p:nvSpPr>
        <p:spPr>
          <a:xfrm>
            <a:off x="6756400" y="1879538"/>
            <a:ext cx="4761484"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5202E"/>
                </a:solidFill>
                <a:latin typeface="IBM Plex Sans" pitchFamily="34" charset="0"/>
                <a:ea typeface="IBM Plex Sans" pitchFamily="34" charset="-122"/>
                <a:cs typeface="IBM Plex Sans" pitchFamily="34" charset="-120"/>
              </a:rPr>
              <a:t>Shared deliverables</a:t>
            </a:r>
            <a:endParaRPr lang="en-US" sz="1700" dirty="0"/>
          </a:p>
        </p:txBody>
      </p:sp>
      <p:sp>
        <p:nvSpPr>
          <p:cNvPr id="8" name="Shape 5"/>
          <p:cNvSpPr/>
          <p:nvPr/>
        </p:nvSpPr>
        <p:spPr>
          <a:xfrm>
            <a:off x="6759575" y="2243336"/>
            <a:ext cx="4616450" cy="1084064"/>
          </a:xfrm>
          <a:prstGeom prst="roundRect">
            <a:avLst>
              <a:gd name="adj" fmla="val 9079"/>
            </a:avLst>
          </a:prstGeom>
          <a:solidFill>
            <a:srgbClr val="FFFFFF"/>
          </a:solidFill>
          <a:ln w="6350">
            <a:solidFill>
              <a:srgbClr val="E2DED5"/>
            </a:solidFill>
            <a:prstDash val="solid"/>
          </a:ln>
        </p:spPr>
      </p:sp>
      <p:sp>
        <p:nvSpPr>
          <p:cNvPr id="9" name="Text 6"/>
          <p:cNvSpPr/>
          <p:nvPr/>
        </p:nvSpPr>
        <p:spPr>
          <a:xfrm>
            <a:off x="6938434" y="2422196"/>
            <a:ext cx="438649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FB3"/>
                </a:solidFill>
                <a:latin typeface="IBM Plex Sans" pitchFamily="34" charset="0"/>
                <a:ea typeface="IBM Plex Sans" pitchFamily="34" charset="-122"/>
                <a:cs typeface="IBM Plex Sans" pitchFamily="34" charset="-120"/>
              </a:rPr>
              <a:t>Done so far</a:t>
            </a:r>
            <a:endParaRPr lang="en-US" sz="1200" dirty="0"/>
          </a:p>
        </p:txBody>
      </p:sp>
      <p:sp>
        <p:nvSpPr>
          <p:cNvPr id="10" name="Text 7"/>
          <p:cNvSpPr/>
          <p:nvPr/>
        </p:nvSpPr>
        <p:spPr>
          <a:xfrm>
            <a:off x="6938434" y="2686317"/>
            <a:ext cx="4386495"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Pipelines A and B built; common evaluation on MOT16-09; report draft written</a:t>
            </a:r>
            <a:endParaRPr lang="en-US" sz="1300" dirty="0"/>
          </a:p>
        </p:txBody>
      </p:sp>
      <p:sp>
        <p:nvSpPr>
          <p:cNvPr id="11" name="Shape 8"/>
          <p:cNvSpPr/>
          <p:nvPr/>
        </p:nvSpPr>
        <p:spPr>
          <a:xfrm>
            <a:off x="6759575" y="3435350"/>
            <a:ext cx="4616450" cy="1084064"/>
          </a:xfrm>
          <a:prstGeom prst="roundRect">
            <a:avLst>
              <a:gd name="adj" fmla="val 9079"/>
            </a:avLst>
          </a:prstGeom>
          <a:solidFill>
            <a:srgbClr val="FFFFFF"/>
          </a:solidFill>
          <a:ln w="6350">
            <a:solidFill>
              <a:srgbClr val="E2DED5"/>
            </a:solidFill>
            <a:prstDash val="solid"/>
          </a:ln>
        </p:spPr>
      </p:sp>
      <p:sp>
        <p:nvSpPr>
          <p:cNvPr id="12" name="Text 9"/>
          <p:cNvSpPr/>
          <p:nvPr/>
        </p:nvSpPr>
        <p:spPr>
          <a:xfrm>
            <a:off x="6938434" y="3614210"/>
            <a:ext cx="438649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F"/>
                </a:solidFill>
                <a:latin typeface="IBM Plex Sans" pitchFamily="34" charset="0"/>
                <a:ea typeface="IBM Plex Sans" pitchFamily="34" charset="-122"/>
                <a:cs typeface="IBM Plex Sans" pitchFamily="34" charset="-120"/>
              </a:rPr>
              <a:t>Still to do (everyone)</a:t>
            </a:r>
            <a:endParaRPr lang="en-US" sz="1200" dirty="0"/>
          </a:p>
        </p:txBody>
      </p:sp>
      <p:sp>
        <p:nvSpPr>
          <p:cNvPr id="13" name="Text 10"/>
          <p:cNvSpPr/>
          <p:nvPr/>
        </p:nvSpPr>
        <p:spPr>
          <a:xfrm>
            <a:off x="6938434" y="3878331"/>
            <a:ext cx="4386495"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5202E"/>
                </a:solidFill>
                <a:latin typeface="IBM Plex Sans" pitchFamily="34" charset="0"/>
                <a:ea typeface="IBM Plex Sans" pitchFamily="34" charset="-122"/>
                <a:cs typeface="IBM Plex Sans" pitchFamily="34" charset="-120"/>
              </a:rPr>
              <a:t>Final report, final presentation, individual anonymous questionnaire</a:t>
            </a:r>
            <a:endParaRPr lang="en-US" sz="1300" dirty="0"/>
          </a:p>
        </p:txBody>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pitchFamily="34" charset="0"/>
                <a:ea typeface="IBM Plex Sans" pitchFamily="34" charset="-122"/>
                <a:cs typeface="IBM Plex Sans" pitchFamily="34" charset="-120"/>
              </a:rPr>
              <a:t>Rehan Ali · 3</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5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8A4B"/>
                </a:solidFill>
                <a:latin typeface="IBM Plex Sans" pitchFamily="34" charset="0"/>
                <a:ea typeface="IBM Plex Sans" pitchFamily="34" charset="-122"/>
                <a:cs typeface="IBM Plex Sans" pitchFamily="34" charset="-120"/>
              </a:rPr>
              <a:t>3 · CURRENT PROGRESS</a:t>
            </a:r>
            <a:endParaRPr lang="en-US" sz="1200" dirty="0"/>
          </a:p>
        </p:txBody>
      </p:sp>
      <p:sp>
        <p:nvSpPr>
          <p:cNvPr id="3" name="Text 1"/>
          <p:cNvSpPr/>
          <p:nvPr>
            <p:ph type="title"/>
          </p:nvPr>
        </p:nvSpPr>
        <p:spPr>
          <a:xfrm>
            <a:off x="812800" y="133092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F6F4EF"/>
                </a:solidFill>
                <a:latin typeface="Space Grotesk" pitchFamily="34" charset="0"/>
                <a:ea typeface="Space Grotesk" pitchFamily="34" charset="-122"/>
                <a:cs typeface="Space Grotesk" pitchFamily="34" charset="-120"/>
              </a:rPr>
              <a:t>Where we are today</a:t>
            </a:r>
            <a:endParaRPr lang="en-US" sz="4000" dirty="0"/>
          </a:p>
        </p:txBody>
      </p:sp>
      <p:sp>
        <p:nvSpPr>
          <p:cNvPr id="4" name="Shape 2"/>
          <p:cNvSpPr/>
          <p:nvPr/>
        </p:nvSpPr>
        <p:spPr>
          <a:xfrm>
            <a:off x="812800" y="2204045"/>
            <a:ext cx="2489200" cy="0"/>
          </a:xfrm>
          <a:prstGeom prst="line">
            <a:avLst/>
          </a:prstGeom>
          <a:noFill/>
          <a:ln w="19050">
            <a:solidFill>
              <a:srgbClr val="F6F4EF"/>
            </a:solidFill>
            <a:prstDash val="solid"/>
          </a:ln>
        </p:spPr>
      </p:sp>
      <p:sp>
        <p:nvSpPr>
          <p:cNvPr id="5" name="Text 3"/>
          <p:cNvSpPr/>
          <p:nvPr/>
        </p:nvSpPr>
        <p:spPr>
          <a:xfrm>
            <a:off x="812800" y="2363856"/>
            <a:ext cx="2563876" cy="398727"/>
          </a:xfrm>
          <a:prstGeom prst="rect">
            <a:avLst/>
          </a:prstGeom>
          <a:noFill/>
          <a:ln/>
        </p:spPr>
        <p:txBody>
          <a:bodyPr wrap="square" lIns="0" tIns="0" rIns="0" bIns="0" rtlCol="0" anchor="t">
            <a:normAutofit/>
          </a:bodyPr>
          <a:lstStyle/>
          <a:p>
            <a:pPr algn="l" indent="0" marL="0">
              <a:lnSpc>
                <a:spcPts val="2940"/>
              </a:lnSpc>
              <a:buNone/>
            </a:pPr>
            <a:r>
              <a:rPr lang="en-US" sz="2800" b="1" dirty="0">
                <a:solidFill>
                  <a:srgbClr val="F6F4EF"/>
                </a:solidFill>
                <a:latin typeface="Space Grotesk" pitchFamily="34" charset="0"/>
                <a:ea typeface="Space Grotesk" pitchFamily="34" charset="-122"/>
                <a:cs typeface="Space Grotesk" pitchFamily="34" charset="-120"/>
              </a:rPr>
              <a:t>2 of 2</a:t>
            </a:r>
            <a:endParaRPr lang="en-US" sz="2800" dirty="0"/>
          </a:p>
        </p:txBody>
      </p:sp>
      <p:sp>
        <p:nvSpPr>
          <p:cNvPr id="6" name="Text 4"/>
          <p:cNvSpPr/>
          <p:nvPr/>
        </p:nvSpPr>
        <p:spPr>
          <a:xfrm>
            <a:off x="812800" y="2787985"/>
            <a:ext cx="2563876" cy="64008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D2DC"/>
                </a:solidFill>
                <a:latin typeface="IBM Plex Sans" pitchFamily="34" charset="0"/>
                <a:ea typeface="IBM Plex Sans" pitchFamily="34" charset="-122"/>
                <a:cs typeface="IBM Plex Sans" pitchFamily="34" charset="-120"/>
              </a:rPr>
              <a:t>pipelines built and running end to end</a:t>
            </a:r>
            <a:endParaRPr lang="en-US" sz="1300" dirty="0"/>
          </a:p>
        </p:txBody>
      </p:sp>
      <p:sp>
        <p:nvSpPr>
          <p:cNvPr id="7" name="Shape 5"/>
          <p:cNvSpPr/>
          <p:nvPr/>
        </p:nvSpPr>
        <p:spPr>
          <a:xfrm>
            <a:off x="3505200" y="2204045"/>
            <a:ext cx="2489200" cy="0"/>
          </a:xfrm>
          <a:prstGeom prst="line">
            <a:avLst/>
          </a:prstGeom>
          <a:noFill/>
          <a:ln w="19050">
            <a:solidFill>
              <a:srgbClr val="F6F4EF"/>
            </a:solidFill>
            <a:prstDash val="solid"/>
          </a:ln>
        </p:spPr>
      </p:sp>
      <p:sp>
        <p:nvSpPr>
          <p:cNvPr id="8" name="Text 6"/>
          <p:cNvSpPr/>
          <p:nvPr/>
        </p:nvSpPr>
        <p:spPr>
          <a:xfrm>
            <a:off x="3505200" y="2363856"/>
            <a:ext cx="2563876" cy="398727"/>
          </a:xfrm>
          <a:prstGeom prst="rect">
            <a:avLst/>
          </a:prstGeom>
          <a:noFill/>
          <a:ln/>
        </p:spPr>
        <p:txBody>
          <a:bodyPr wrap="square" lIns="0" tIns="0" rIns="0" bIns="0" rtlCol="0" anchor="t">
            <a:normAutofit/>
          </a:bodyPr>
          <a:lstStyle/>
          <a:p>
            <a:pPr algn="l" indent="0" marL="0">
              <a:lnSpc>
                <a:spcPts val="2940"/>
              </a:lnSpc>
              <a:buNone/>
            </a:pPr>
            <a:r>
              <a:rPr lang="en-US" sz="2800" b="1" dirty="0">
                <a:solidFill>
                  <a:srgbClr val="F6F4EF"/>
                </a:solidFill>
                <a:latin typeface="Space Grotesk" pitchFamily="34" charset="0"/>
                <a:ea typeface="Space Grotesk" pitchFamily="34" charset="-122"/>
                <a:cs typeface="Space Grotesk" pitchFamily="34" charset="-120"/>
              </a:rPr>
              <a:t>7</a:t>
            </a:r>
            <a:endParaRPr lang="en-US" sz="2800" dirty="0"/>
          </a:p>
        </p:txBody>
      </p:sp>
      <p:sp>
        <p:nvSpPr>
          <p:cNvPr id="9" name="Text 7"/>
          <p:cNvSpPr/>
          <p:nvPr/>
        </p:nvSpPr>
        <p:spPr>
          <a:xfrm>
            <a:off x="3505200" y="2787985"/>
            <a:ext cx="2563876" cy="64008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D2DC"/>
                </a:solidFill>
                <a:latin typeface="IBM Plex Sans" pitchFamily="34" charset="0"/>
                <a:ea typeface="IBM Plex Sans" pitchFamily="34" charset="-122"/>
                <a:cs typeface="IBM Plex Sans" pitchFamily="34" charset="-120"/>
              </a:rPr>
              <a:t>Colab notebooks (Pipeline B and comparison); Pipeline A has 5 more</a:t>
            </a:r>
            <a:endParaRPr lang="en-US" sz="1300" dirty="0"/>
          </a:p>
        </p:txBody>
      </p:sp>
      <p:sp>
        <p:nvSpPr>
          <p:cNvPr id="10" name="Shape 8"/>
          <p:cNvSpPr/>
          <p:nvPr/>
        </p:nvSpPr>
        <p:spPr>
          <a:xfrm>
            <a:off x="6197600" y="2204045"/>
            <a:ext cx="2489200" cy="0"/>
          </a:xfrm>
          <a:prstGeom prst="line">
            <a:avLst/>
          </a:prstGeom>
          <a:noFill/>
          <a:ln w="19050">
            <a:solidFill>
              <a:srgbClr val="F6F4EF"/>
            </a:solidFill>
            <a:prstDash val="solid"/>
          </a:ln>
        </p:spPr>
      </p:sp>
      <p:sp>
        <p:nvSpPr>
          <p:cNvPr id="11" name="Text 9"/>
          <p:cNvSpPr/>
          <p:nvPr/>
        </p:nvSpPr>
        <p:spPr>
          <a:xfrm>
            <a:off x="6197600" y="2363856"/>
            <a:ext cx="2563876" cy="398727"/>
          </a:xfrm>
          <a:prstGeom prst="rect">
            <a:avLst/>
          </a:prstGeom>
          <a:noFill/>
          <a:ln/>
        </p:spPr>
        <p:txBody>
          <a:bodyPr wrap="square" lIns="0" tIns="0" rIns="0" bIns="0" rtlCol="0" anchor="t">
            <a:normAutofit/>
          </a:bodyPr>
          <a:lstStyle/>
          <a:p>
            <a:pPr algn="l" indent="0" marL="0">
              <a:lnSpc>
                <a:spcPts val="2940"/>
              </a:lnSpc>
              <a:buNone/>
            </a:pPr>
            <a:r>
              <a:rPr lang="en-US" sz="2800" b="1" dirty="0">
                <a:solidFill>
                  <a:srgbClr val="F6F4EF"/>
                </a:solidFill>
                <a:latin typeface="Space Grotesk" pitchFamily="34" charset="0"/>
                <a:ea typeface="Space Grotesk" pitchFamily="34" charset="-122"/>
                <a:cs typeface="Space Grotesk" pitchFamily="34" charset="-120"/>
              </a:rPr>
              <a:t>2</a:t>
            </a:r>
            <a:endParaRPr lang="en-US" sz="2800" dirty="0"/>
          </a:p>
        </p:txBody>
      </p:sp>
      <p:sp>
        <p:nvSpPr>
          <p:cNvPr id="12" name="Text 10"/>
          <p:cNvSpPr/>
          <p:nvPr/>
        </p:nvSpPr>
        <p:spPr>
          <a:xfrm>
            <a:off x="6197600" y="2787985"/>
            <a:ext cx="2563876" cy="64008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D2DC"/>
                </a:solidFill>
                <a:latin typeface="IBM Plex Sans" pitchFamily="34" charset="0"/>
                <a:ea typeface="IBM Plex Sans" pitchFamily="34" charset="-122"/>
                <a:cs typeface="IBM Plex Sans" pitchFamily="34" charset="-120"/>
              </a:rPr>
              <a:t>target videos on test sequences: MOT16-01 and MOT16-14</a:t>
            </a:r>
            <a:endParaRPr lang="en-US" sz="1300" dirty="0"/>
          </a:p>
        </p:txBody>
      </p:sp>
      <p:sp>
        <p:nvSpPr>
          <p:cNvPr id="13" name="Shape 11"/>
          <p:cNvSpPr/>
          <p:nvPr/>
        </p:nvSpPr>
        <p:spPr>
          <a:xfrm>
            <a:off x="8890000" y="2204045"/>
            <a:ext cx="2489200" cy="0"/>
          </a:xfrm>
          <a:prstGeom prst="line">
            <a:avLst/>
          </a:prstGeom>
          <a:noFill/>
          <a:ln w="19050">
            <a:solidFill>
              <a:srgbClr val="F08A4B"/>
            </a:solidFill>
            <a:prstDash val="solid"/>
          </a:ln>
        </p:spPr>
      </p:sp>
      <p:sp>
        <p:nvSpPr>
          <p:cNvPr id="14" name="Text 12"/>
          <p:cNvSpPr/>
          <p:nvPr/>
        </p:nvSpPr>
        <p:spPr>
          <a:xfrm>
            <a:off x="8890000" y="2363856"/>
            <a:ext cx="2563876" cy="398727"/>
          </a:xfrm>
          <a:prstGeom prst="rect">
            <a:avLst/>
          </a:prstGeom>
          <a:noFill/>
          <a:ln/>
        </p:spPr>
        <p:txBody>
          <a:bodyPr wrap="square" lIns="0" tIns="0" rIns="0" bIns="0" rtlCol="0" anchor="t">
            <a:normAutofit/>
          </a:bodyPr>
          <a:lstStyle/>
          <a:p>
            <a:pPr algn="l" indent="0" marL="0">
              <a:lnSpc>
                <a:spcPts val="2940"/>
              </a:lnSpc>
              <a:buNone/>
            </a:pPr>
            <a:r>
              <a:rPr lang="en-US" sz="2800" b="1" dirty="0">
                <a:solidFill>
                  <a:srgbClr val="F08A4B"/>
                </a:solidFill>
                <a:latin typeface="Space Grotesk" pitchFamily="34" charset="0"/>
                <a:ea typeface="Space Grotesk" pitchFamily="34" charset="-122"/>
                <a:cs typeface="Space Grotesk" pitchFamily="34" charset="-120"/>
              </a:rPr>
              <a:t>12 pages</a:t>
            </a:r>
            <a:endParaRPr lang="en-US" sz="2800" dirty="0"/>
          </a:p>
        </p:txBody>
      </p:sp>
      <p:sp>
        <p:nvSpPr>
          <p:cNvPr id="15" name="Text 13"/>
          <p:cNvSpPr/>
          <p:nvPr/>
        </p:nvSpPr>
        <p:spPr>
          <a:xfrm>
            <a:off x="8890000" y="2787985"/>
            <a:ext cx="2563876" cy="64008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D2DC"/>
                </a:solidFill>
                <a:latin typeface="IBM Plex Sans" pitchFamily="34" charset="0"/>
                <a:ea typeface="IBM Plex Sans" pitchFamily="34" charset="-122"/>
                <a:cs typeface="IBM Plex Sans" pitchFamily="34" charset="-120"/>
              </a:rPr>
              <a:t>report draft with tables and figures</a:t>
            </a:r>
            <a:endParaRPr lang="en-US" sz="13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7B6"/>
                </a:solidFill>
                <a:latin typeface="IBM Plex Sans" pitchFamily="34" charset="0"/>
                <a:ea typeface="IBM Plex Sans" pitchFamily="34" charset="-122"/>
                <a:cs typeface="IBM Plex Sans" pitchFamily="34" charset="-120"/>
              </a:rPr>
              <a:t>Rehan Ali · 5</a:t>
            </a:r>
            <a:endParaRPr lang="en-US" sz="1200" dirty="0"/>
          </a:p>
        </p:txBody>
      </p:sp>
      <p:sp>
        <p:nvSpPr>
          <p:cNvPr id="21" name="Text 15"/>
          <p:cNvSpPr/>
          <p:nvPr/>
        </p:nvSpPr>
        <p:spPr>
          <a:xfrm>
            <a:off x="813816" y="3931920"/>
            <a:ext cx="5120640" cy="27432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F"/>
                </a:solidFill>
                <a:latin typeface="IBM Plex Sans" pitchFamily="34" charset="0"/>
                <a:ea typeface="IBM Plex Sans" pitchFamily="34" charset="-122"/>
                <a:cs typeface="IBM Plex Sans" pitchFamily="34" charset="-120"/>
              </a:rPr>
              <a:t>Done</a:t>
            </a:r>
            <a:endParaRPr lang="en-US" sz="1600" dirty="0"/>
          </a:p>
        </p:txBody>
      </p:sp>
      <p:sp>
        <p:nvSpPr>
          <p:cNvPr id="22" name="Text 16"/>
          <p:cNvSpPr/>
          <p:nvPr/>
        </p:nvSpPr>
        <p:spPr>
          <a:xfrm>
            <a:off x="813816" y="4270248"/>
            <a:ext cx="5120640" cy="14630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DC"/>
                </a:solidFill>
                <a:latin typeface="IBM Plex Sans" pitchFamily="34" charset="0"/>
                <a:ea typeface="IBM Plex Sans" pitchFamily="34" charset="-122"/>
                <a:cs typeface="IBM Plex Sans" pitchFamily="34" charset="-120"/>
              </a:rPr>
              <a:t>Data prepared (split by sequence), detectors fine-tuned, ReID models trained, trackers run and scored with TrackEval, comparison and per-person analysis.</a:t>
            </a:r>
            <a:endParaRPr lang="en-US" sz="1300" dirty="0"/>
          </a:p>
        </p:txBody>
      </p:sp>
      <p:sp>
        <p:nvSpPr>
          <p:cNvPr id="23" name="Text 15"/>
          <p:cNvSpPr/>
          <p:nvPr/>
        </p:nvSpPr>
        <p:spPr>
          <a:xfrm>
            <a:off x="6355080" y="3931920"/>
            <a:ext cx="5029200" cy="27432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F"/>
                </a:solidFill>
                <a:latin typeface="IBM Plex Sans" pitchFamily="34" charset="0"/>
                <a:ea typeface="IBM Plex Sans" pitchFamily="34" charset="-122"/>
                <a:cs typeface="IBM Plex Sans" pitchFamily="34" charset="-120"/>
              </a:rPr>
              <a:t>In progress</a:t>
            </a:r>
            <a:endParaRPr lang="en-US" sz="1600" dirty="0"/>
          </a:p>
        </p:txBody>
      </p:sp>
      <p:sp>
        <p:nvSpPr>
          <p:cNvPr id="24" name="Text 16"/>
          <p:cNvSpPr/>
          <p:nvPr/>
        </p:nvSpPr>
        <p:spPr>
          <a:xfrm>
            <a:off x="6355080" y="4270248"/>
            <a:ext cx="5029200" cy="14630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DC"/>
                </a:solidFill>
                <a:latin typeface="IBM Plex Sans" pitchFamily="34" charset="0"/>
                <a:ea typeface="IBM Plex Sans" pitchFamily="34" charset="-122"/>
                <a:cs typeface="IBM Plex Sans" pitchFamily="34" charset="-120"/>
              </a:rPr>
              <a:t>Final report (figures, bibliography), rehearsal of the presentation. Still open: a second validation sequence.</a:t>
            </a:r>
            <a:endParaRPr lang="en-US" sz="130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5202E"/>
        </a:solidFill>
      </p:bgPr>
    </p:bg>
    <p:spTree>
      <p:nvGrpSpPr>
        <p:cNvPr id="1" name=""/>
        <p:cNvGrpSpPr/>
        <p:nvPr/>
      </p:nvGrpSpPr>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8A4B"/>
                </a:solidFill>
                <a:latin typeface="IBM Plex Sans" pitchFamily="34" charset="0"/>
                <a:ea typeface="IBM Plex Sans" pitchFamily="34" charset="-122"/>
                <a:cs typeface="IBM Plex Sans" pitchFamily="34" charset="-120"/>
              </a:rPr>
              <a:t>4 · METHODOLOGY · PIPELINE B</a:t>
            </a:r>
            <a:endParaRPr lang="en-US" sz="1200" dirty="0"/>
          </a:p>
        </p:txBody>
      </p:sp>
      <p:sp>
        <p:nvSpPr>
          <p:cNvPr id="3" name="Text 1"/>
          <p:cNvSpPr/>
          <p:nvPr>
            <p:ph type="title"/>
          </p:nvPr>
        </p:nvSpPr>
        <p:spPr>
          <a:xfrm>
            <a:off x="812800" y="12801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4EF"/>
                </a:solidFill>
                <a:latin typeface="Space Grotesk" pitchFamily="34" charset="0"/>
                <a:ea typeface="Space Grotesk" pitchFamily="34" charset="-122"/>
                <a:cs typeface="Space Grotesk" pitchFamily="34" charset="-120"/>
              </a:rPr>
              <a:t>A newer detector, a larger ReID model, our own repair</a:t>
            </a:r>
            <a:endParaRPr lang="en-US" sz="3200" dirty="0"/>
          </a:p>
        </p:txBody>
      </p:sp>
      <p:sp>
        <p:nvSpPr>
          <p:cNvPr id="4" name="Shape 2"/>
          <p:cNvSpPr/>
          <p:nvPr/>
        </p:nvSpPr>
        <p:spPr>
          <a:xfrm>
            <a:off x="815975" y="2082933"/>
            <a:ext cx="2101850" cy="858044"/>
          </a:xfrm>
          <a:prstGeom prst="roundRect">
            <a:avLst>
              <a:gd name="adj" fmla="val 11471"/>
            </a:avLst>
          </a:prstGeom>
          <a:solidFill>
            <a:srgbClr val="22324A"/>
          </a:solidFill>
          <a:ln w="6350">
            <a:solidFill>
              <a:srgbClr val="3A4E6B"/>
            </a:solidFill>
            <a:prstDash val="solid"/>
          </a:ln>
        </p:spPr>
      </p:sp>
      <p:sp>
        <p:nvSpPr>
          <p:cNvPr id="5" name="Text 3"/>
          <p:cNvSpPr/>
          <p:nvPr/>
        </p:nvSpPr>
        <p:spPr>
          <a:xfrm>
            <a:off x="994833" y="2261791"/>
            <a:ext cx="179645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F"/>
                </a:solidFill>
                <a:latin typeface="IBM Plex Sans" pitchFamily="34" charset="0"/>
                <a:ea typeface="IBM Plex Sans" pitchFamily="34" charset="-122"/>
                <a:cs typeface="IBM Plex Sans" pitchFamily="34" charset="-120"/>
              </a:rPr>
              <a:t>Video frame</a:t>
            </a:r>
            <a:endParaRPr lang="en-US" sz="1600" dirty="0"/>
          </a:p>
        </p:txBody>
      </p:sp>
      <p:sp>
        <p:nvSpPr>
          <p:cNvPr id="6" name="Text 4"/>
          <p:cNvSpPr/>
          <p:nvPr/>
        </p:nvSpPr>
        <p:spPr>
          <a:xfrm>
            <a:off x="994833" y="2556405"/>
            <a:ext cx="1796457"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2DC"/>
                </a:solidFill>
                <a:latin typeface="IBM Plex Sans" pitchFamily="34" charset="0"/>
                <a:ea typeface="IBM Plex Sans" pitchFamily="34" charset="-122"/>
                <a:cs typeface="IBM Plex Sans" pitchFamily="34" charset="-120"/>
              </a:rPr>
              <a:t>1920×1080, 30 fps</a:t>
            </a:r>
            <a:endParaRPr lang="en-US" sz="1200" dirty="0"/>
          </a:p>
        </p:txBody>
      </p:sp>
      <p:pic>
        <p:nvPicPr>
          <p:cNvPr id="7" name="Image 0" descr="arrow-right">    </p:cNvPr>
          <p:cNvPicPr>
            <a:picLocks noChangeAspect="1"/>
          </p:cNvPicPr>
          <p:nvPr/>
        </p:nvPicPr>
        <p:blipFill>
          <a:blip r:embed="rId2"/>
          <a:srcRect l="0" r="0" t="0" b="0"/>
          <a:stretch/>
        </p:blipFill>
        <p:spPr>
          <a:xfrm>
            <a:off x="3073400" y="2410355"/>
            <a:ext cx="406400" cy="203200"/>
          </a:xfrm>
          <a:prstGeom prst="rect">
            <a:avLst/>
          </a:prstGeom>
        </p:spPr>
      </p:pic>
      <p:sp>
        <p:nvSpPr>
          <p:cNvPr id="8" name="Shape 5"/>
          <p:cNvSpPr/>
          <p:nvPr/>
        </p:nvSpPr>
        <p:spPr>
          <a:xfrm>
            <a:off x="3632200" y="2083991"/>
            <a:ext cx="2108200" cy="855927"/>
          </a:xfrm>
          <a:prstGeom prst="roundRect">
            <a:avLst>
              <a:gd name="adj" fmla="val 11870"/>
            </a:avLst>
          </a:prstGeom>
          <a:solidFill>
            <a:srgbClr val="F6F4EF"/>
          </a:solidFill>
          <a:ln/>
        </p:spPr>
      </p:sp>
      <p:sp>
        <p:nvSpPr>
          <p:cNvPr id="9" name="Text 6"/>
          <p:cNvSpPr/>
          <p:nvPr/>
        </p:nvSpPr>
        <p:spPr>
          <a:xfrm>
            <a:off x="3810000" y="2261791"/>
            <a:ext cx="1805178"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02E"/>
                </a:solidFill>
                <a:latin typeface="IBM Plex Sans" pitchFamily="34" charset="0"/>
                <a:ea typeface="IBM Plex Sans" pitchFamily="34" charset="-122"/>
                <a:cs typeface="IBM Plex Sans" pitchFamily="34" charset="-120"/>
              </a:rPr>
              <a:t>YOLO (yolo26m)</a:t>
            </a:r>
            <a:endParaRPr lang="en-US" sz="1600" dirty="0"/>
          </a:p>
        </p:txBody>
      </p:sp>
      <p:sp>
        <p:nvSpPr>
          <p:cNvPr id="10" name="Text 7"/>
          <p:cNvSpPr/>
          <p:nvPr/>
        </p:nvSpPr>
        <p:spPr>
          <a:xfrm>
            <a:off x="3810000" y="2556405"/>
            <a:ext cx="1930400"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363"/>
                </a:solidFill>
                <a:latin typeface="IBM Plex Sans" pitchFamily="34" charset="0"/>
                <a:ea typeface="IBM Plex Sans" pitchFamily="34" charset="-122"/>
                <a:cs typeface="IBM Plex Sans" pitchFamily="34" charset="-120"/>
              </a:rPr>
              <a:t>one-stage detector</a:t>
            </a:r>
            <a:endParaRPr lang="en-US" sz="1200" dirty="0"/>
          </a:p>
        </p:txBody>
      </p:sp>
      <p:pic>
        <p:nvPicPr>
          <p:cNvPr id="11" name="Image 1" descr="arrow-right">    </p:cNvPr>
          <p:cNvPicPr>
            <a:picLocks noChangeAspect="1"/>
          </p:cNvPicPr>
          <p:nvPr/>
        </p:nvPicPr>
        <p:blipFill>
          <a:blip r:embed="rId3"/>
          <a:srcRect l="0" r="0" t="0" b="0"/>
          <a:stretch/>
        </p:blipFill>
        <p:spPr>
          <a:xfrm>
            <a:off x="5892800" y="2410355"/>
            <a:ext cx="406400" cy="203200"/>
          </a:xfrm>
          <a:prstGeom prst="rect">
            <a:avLst/>
          </a:prstGeom>
        </p:spPr>
      </p:pic>
      <p:sp>
        <p:nvSpPr>
          <p:cNvPr id="12" name="Shape 8"/>
          <p:cNvSpPr/>
          <p:nvPr/>
        </p:nvSpPr>
        <p:spPr>
          <a:xfrm>
            <a:off x="6451600" y="1981135"/>
            <a:ext cx="2108200" cy="1061641"/>
          </a:xfrm>
          <a:prstGeom prst="roundRect">
            <a:avLst>
              <a:gd name="adj" fmla="val 9570"/>
            </a:avLst>
          </a:prstGeom>
          <a:solidFill>
            <a:srgbClr val="F6F4EF"/>
          </a:solidFill>
          <a:ln/>
        </p:spPr>
      </p:sp>
      <p:sp>
        <p:nvSpPr>
          <p:cNvPr id="13" name="Text 9"/>
          <p:cNvSpPr/>
          <p:nvPr/>
        </p:nvSpPr>
        <p:spPr>
          <a:xfrm>
            <a:off x="6629400" y="2158935"/>
            <a:ext cx="1805178"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02E"/>
                </a:solidFill>
                <a:latin typeface="IBM Plex Sans" pitchFamily="34" charset="0"/>
                <a:ea typeface="IBM Plex Sans" pitchFamily="34" charset="-122"/>
                <a:cs typeface="IBM Plex Sans" pitchFamily="34" charset="-120"/>
              </a:rPr>
              <a:t>ReID ResNet-50</a:t>
            </a:r>
            <a:endParaRPr lang="en-US" sz="1600" dirty="0"/>
          </a:p>
        </p:txBody>
      </p:sp>
      <p:sp>
        <p:nvSpPr>
          <p:cNvPr id="14" name="Text 10"/>
          <p:cNvSpPr/>
          <p:nvPr/>
        </p:nvSpPr>
        <p:spPr>
          <a:xfrm>
            <a:off x="6629400" y="2453548"/>
            <a:ext cx="1805178"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363"/>
                </a:solidFill>
                <a:latin typeface="IBM Plex Sans" pitchFamily="34" charset="0"/>
                <a:ea typeface="IBM Plex Sans" pitchFamily="34" charset="-122"/>
                <a:cs typeface="IBM Plex Sans" pitchFamily="34" charset="-120"/>
              </a:rPr>
              <a:t>2048 numbers per person</a:t>
            </a:r>
            <a:endParaRPr lang="en-US" sz="1200" dirty="0"/>
          </a:p>
        </p:txBody>
      </p:sp>
      <p:pic>
        <p:nvPicPr>
          <p:cNvPr id="15" name="Image 2" descr="arrow-right">    </p:cNvPr>
          <p:cNvPicPr>
            <a:picLocks noChangeAspect="1"/>
          </p:cNvPicPr>
          <p:nvPr/>
        </p:nvPicPr>
        <p:blipFill>
          <a:blip r:embed="rId4"/>
          <a:srcRect l="0" r="0" t="0" b="0"/>
          <a:stretch/>
        </p:blipFill>
        <p:spPr>
          <a:xfrm>
            <a:off x="8712200" y="2410355"/>
            <a:ext cx="406400" cy="203200"/>
          </a:xfrm>
          <a:prstGeom prst="rect">
            <a:avLst/>
          </a:prstGeom>
        </p:spPr>
      </p:pic>
      <p:sp>
        <p:nvSpPr>
          <p:cNvPr id="16" name="Shape 11"/>
          <p:cNvSpPr/>
          <p:nvPr/>
        </p:nvSpPr>
        <p:spPr>
          <a:xfrm>
            <a:off x="9271000" y="2083991"/>
            <a:ext cx="2108200" cy="855927"/>
          </a:xfrm>
          <a:prstGeom prst="roundRect">
            <a:avLst>
              <a:gd name="adj" fmla="val 11870"/>
            </a:avLst>
          </a:prstGeom>
          <a:solidFill>
            <a:srgbClr val="F08A4B"/>
          </a:solidFill>
          <a:ln/>
        </p:spPr>
      </p:sp>
      <p:sp>
        <p:nvSpPr>
          <p:cNvPr id="17" name="Text 12"/>
          <p:cNvSpPr/>
          <p:nvPr/>
        </p:nvSpPr>
        <p:spPr>
          <a:xfrm>
            <a:off x="9448800" y="2261791"/>
            <a:ext cx="1805178"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02E"/>
                </a:solidFill>
                <a:latin typeface="IBM Plex Sans" pitchFamily="34" charset="0"/>
                <a:ea typeface="IBM Plex Sans" pitchFamily="34" charset="-122"/>
                <a:cs typeface="IBM Plex Sans" pitchFamily="34" charset="-120"/>
              </a:rPr>
              <a:t>BoT-SORT + repair</a:t>
            </a:r>
            <a:endParaRPr lang="en-US" sz="1600" dirty="0"/>
          </a:p>
        </p:txBody>
      </p:sp>
      <p:sp>
        <p:nvSpPr>
          <p:cNvPr id="18" name="Text 13"/>
          <p:cNvSpPr/>
          <p:nvPr/>
        </p:nvSpPr>
        <p:spPr>
          <a:xfrm>
            <a:off x="9448800" y="2556405"/>
            <a:ext cx="1805178"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5202E"/>
                </a:solidFill>
                <a:latin typeface="IBM Plex Sans" pitchFamily="34" charset="0"/>
                <a:ea typeface="IBM Plex Sans" pitchFamily="34" charset="-122"/>
                <a:cs typeface="IBM Plex Sans" pitchFamily="34" charset="-120"/>
              </a:rPr>
              <a:t>Kalman + our repair</a:t>
            </a:r>
            <a:endParaRPr lang="en-US" sz="1200" dirty="0"/>
          </a:p>
        </p:txBody>
      </p:sp>
      <p:sp>
        <p:nvSpPr>
          <p:cNvPr id="19" name="Shape 14"/>
          <p:cNvSpPr/>
          <p:nvPr/>
        </p:nvSpPr>
        <p:spPr>
          <a:xfrm>
            <a:off x="812800" y="3306301"/>
            <a:ext cx="3386667" cy="0"/>
          </a:xfrm>
          <a:prstGeom prst="line">
            <a:avLst/>
          </a:prstGeom>
          <a:noFill/>
          <a:ln w="19050">
            <a:solidFill>
              <a:srgbClr val="F6F4EF"/>
            </a:solidFill>
            <a:prstDash val="solid"/>
          </a:ln>
        </p:spPr>
      </p:sp>
      <p:sp>
        <p:nvSpPr>
          <p:cNvPr id="20" name="Text 15"/>
          <p:cNvSpPr/>
          <p:nvPr/>
        </p:nvSpPr>
        <p:spPr>
          <a:xfrm>
            <a:off x="812800" y="3466108"/>
            <a:ext cx="348826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F"/>
                </a:solidFill>
                <a:latin typeface="IBM Plex Sans" pitchFamily="34" charset="0"/>
                <a:ea typeface="IBM Plex Sans" pitchFamily="34" charset="-122"/>
                <a:cs typeface="IBM Plex Sans" pitchFamily="34" charset="-120"/>
              </a:rPr>
              <a:t>Where are people?</a:t>
            </a:r>
            <a:endParaRPr lang="en-US" sz="1600" dirty="0"/>
          </a:p>
        </p:txBody>
      </p:sp>
      <p:sp>
        <p:nvSpPr>
          <p:cNvPr id="21" name="Text 16"/>
          <p:cNvSpPr/>
          <p:nvPr/>
        </p:nvSpPr>
        <p:spPr>
          <a:xfrm>
            <a:off x="812800" y="3786122"/>
            <a:ext cx="348826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DC"/>
                </a:solidFill>
                <a:latin typeface="IBM Plex Sans" pitchFamily="34" charset="0"/>
                <a:ea typeface="IBM Plex Sans" pitchFamily="34" charset="-122"/>
                <a:cs typeface="IBM Plex Sans" pitchFamily="34" charset="-120"/>
              </a:rPr>
              <a:t>One pass over the image. Fine-tuned at size 960, all layers, up to 30 epochs (best epoch 21).</a:t>
            </a:r>
            <a:endParaRPr lang="en-US" sz="1300" dirty="0"/>
          </a:p>
        </p:txBody>
      </p:sp>
      <p:sp>
        <p:nvSpPr>
          <p:cNvPr id="22" name="Shape 17"/>
          <p:cNvSpPr/>
          <p:nvPr/>
        </p:nvSpPr>
        <p:spPr>
          <a:xfrm>
            <a:off x="4402667" y="3306301"/>
            <a:ext cx="3386667" cy="0"/>
          </a:xfrm>
          <a:prstGeom prst="line">
            <a:avLst/>
          </a:prstGeom>
          <a:noFill/>
          <a:ln w="19050">
            <a:solidFill>
              <a:srgbClr val="F6F4EF"/>
            </a:solidFill>
            <a:prstDash val="solid"/>
          </a:ln>
        </p:spPr>
      </p:sp>
      <p:sp>
        <p:nvSpPr>
          <p:cNvPr id="23" name="Text 18"/>
          <p:cNvSpPr/>
          <p:nvPr/>
        </p:nvSpPr>
        <p:spPr>
          <a:xfrm>
            <a:off x="4402667" y="3466108"/>
            <a:ext cx="348826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F"/>
                </a:solidFill>
                <a:latin typeface="IBM Plex Sans" pitchFamily="34" charset="0"/>
                <a:ea typeface="IBM Plex Sans" pitchFamily="34" charset="-122"/>
                <a:cs typeface="IBM Plex Sans" pitchFamily="34" charset="-120"/>
              </a:rPr>
              <a:t>Is this the same person?</a:t>
            </a:r>
            <a:endParaRPr lang="en-US" sz="1600" dirty="0"/>
          </a:p>
        </p:txBody>
      </p:sp>
      <p:sp>
        <p:nvSpPr>
          <p:cNvPr id="24" name="Text 19"/>
          <p:cNvSpPr/>
          <p:nvPr/>
        </p:nvSpPr>
        <p:spPr>
          <a:xfrm>
            <a:off x="4402667" y="3786122"/>
            <a:ext cx="348826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DC"/>
                </a:solidFill>
                <a:latin typeface="IBM Plex Sans" pitchFamily="34" charset="0"/>
                <a:ea typeface="IBM Plex Sans" pitchFamily="34" charset="-122"/>
                <a:cs typeface="IBM Plex Sans" pitchFamily="34" charset="-120"/>
              </a:rPr>
              <a:t>ResNet-50 with BNNeck; identity loss + triplet loss; 12 epochs.</a:t>
            </a:r>
            <a:endParaRPr lang="en-US" sz="1300" dirty="0"/>
          </a:p>
        </p:txBody>
      </p:sp>
      <p:sp>
        <p:nvSpPr>
          <p:cNvPr id="25" name="Shape 20"/>
          <p:cNvSpPr/>
          <p:nvPr/>
        </p:nvSpPr>
        <p:spPr>
          <a:xfrm>
            <a:off x="7992534" y="3306301"/>
            <a:ext cx="3386667" cy="0"/>
          </a:xfrm>
          <a:prstGeom prst="line">
            <a:avLst/>
          </a:prstGeom>
          <a:noFill/>
          <a:ln w="19050">
            <a:solidFill>
              <a:srgbClr val="F08A4B"/>
            </a:solidFill>
            <a:prstDash val="solid"/>
          </a:ln>
        </p:spPr>
      </p:sp>
      <p:sp>
        <p:nvSpPr>
          <p:cNvPr id="26" name="Text 21"/>
          <p:cNvSpPr/>
          <p:nvPr/>
        </p:nvSpPr>
        <p:spPr>
          <a:xfrm>
            <a:off x="7992534" y="3466108"/>
            <a:ext cx="348826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08A4B"/>
                </a:solidFill>
                <a:latin typeface="IBM Plex Sans" pitchFamily="34" charset="0"/>
                <a:ea typeface="IBM Plex Sans" pitchFamily="34" charset="-122"/>
                <a:cs typeface="IBM Plex Sans" pitchFamily="34" charset="-120"/>
              </a:rPr>
              <a:t>Who goes where?</a:t>
            </a:r>
            <a:endParaRPr lang="en-US" sz="1600" dirty="0"/>
          </a:p>
        </p:txBody>
      </p:sp>
      <p:sp>
        <p:nvSpPr>
          <p:cNvPr id="27" name="Text 22"/>
          <p:cNvSpPr/>
          <p:nvPr/>
        </p:nvSpPr>
        <p:spPr>
          <a:xfrm>
            <a:off x="7992534" y="3786122"/>
            <a:ext cx="348826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DC"/>
                </a:solidFill>
                <a:latin typeface="IBM Plex Sans" pitchFamily="34" charset="0"/>
                <a:ea typeface="IBM Plex Sans" pitchFamily="34" charset="-122"/>
                <a:cs typeface="IBM Plex Sans" pitchFamily="34" charset="-120"/>
              </a:rPr>
              <a:t>BoT-SORT (library) + our repair: split if the look changes (0.5), merge tracks (0.35, up to 150 frames).</a:t>
            </a:r>
            <a:endParaRPr lang="en-US" sz="1300" dirty="0"/>
          </a:p>
        </p:txBody>
      </p:sp>
      <p:sp>
        <p:nvSpPr>
          <p:cNvPr id="28" name="Text 2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7B6"/>
                </a:solidFill>
                <a:latin typeface="IBM Plex Sans" pitchFamily="34" charset="0"/>
                <a:ea typeface="IBM Plex Sans" pitchFamily="34" charset="-122"/>
                <a:cs typeface="IBM Plex Sans" pitchFamily="34" charset="-120"/>
              </a:rPr>
              <a:t>Tony Nguyen · 8</a:t>
            </a:r>
            <a:endParaRPr lang="en-US" sz="1200" dirty="0"/>
          </a:p>
        </p:txBody>
      </p:sp>
      <p:sp>
        <p:nvSpPr>
          <p:cNvPr id="29" name="Text 15"/>
          <p:cNvSpPr/>
          <p:nvPr/>
        </p:nvSpPr>
        <p:spPr>
          <a:xfrm>
            <a:off x="813816" y="4709160"/>
            <a:ext cx="10424160" cy="27432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F"/>
                </a:solidFill>
                <a:latin typeface="IBM Plex Sans" pitchFamily="34" charset="0"/>
                <a:ea typeface="IBM Plex Sans" pitchFamily="34" charset="-122"/>
                <a:cs typeface="IBM Plex Sans" pitchFamily="34" charset="-120"/>
              </a:rPr>
              <a:t>Code</a:t>
            </a:r>
            <a:endParaRPr lang="en-US" sz="1600" dirty="0"/>
          </a:p>
        </p:txBody>
      </p:sp>
      <p:sp>
        <p:nvSpPr>
          <p:cNvPr id="30" name="Text 16"/>
          <p:cNvSpPr/>
          <p:nvPr/>
        </p:nvSpPr>
        <p:spPr>
          <a:xfrm>
            <a:off x="813816" y="5029200"/>
            <a:ext cx="10424160" cy="5486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DC"/>
                </a:solidFill>
                <a:latin typeface="IBM Plex Sans" pitchFamily="34" charset="0"/>
                <a:ea typeface="IBM Plex Sans" pitchFamily="34" charset="-122"/>
                <a:cs typeface="IBM Plex Sans" pitchFamily="34" charset="-120"/>
              </a:rPr>
              <a:t>Library: the YOLO detector and BoT-SORT. Our own code: the ReID training, the repair step, the evaluation and the target selection.</a:t>
            </a:r>
            <a:endParaRPr lang="en-US" sz="130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5202E"/>
        </a:solidFill>
      </p:bgPr>
    </p:bg>
    <p:spTree>
      <p:nvGrpSpPr>
        <p:cNvPr id="1" name=""/>
        <p:cNvGrpSpPr/>
        <p:nvPr/>
      </p:nvGrpSpPr>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8A4B"/>
                </a:solidFill>
                <a:latin typeface="IBM Plex Sans" pitchFamily="34" charset="0"/>
                <a:ea typeface="IBM Plex Sans" pitchFamily="34" charset="-122"/>
                <a:cs typeface="IBM Plex Sans" pitchFamily="34" charset="-120"/>
              </a:rPr>
              <a:t>2 · PROJECT TIMELINE</a:t>
            </a:r>
            <a:endParaRPr lang="en-US" sz="1200" dirty="0"/>
          </a:p>
        </p:txBody>
      </p:sp>
      <p:sp>
        <p:nvSpPr>
          <p:cNvPr id="3" name="Text 1"/>
          <p:cNvSpPr/>
          <p:nvPr>
            <p:ph type="title"/>
          </p:nvPr>
        </p:nvSpPr>
        <p:spPr>
          <a:xfrm>
            <a:off x="812800" y="12801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4EF"/>
                </a:solidFill>
                <a:latin typeface="Space Grotesk" pitchFamily="34" charset="0"/>
                <a:ea typeface="Space Grotesk" pitchFamily="34" charset="-122"/>
                <a:cs typeface="Space Grotesk" pitchFamily="34" charset="-120"/>
              </a:rPr>
              <a:t>From kickoff to the final presentation</a:t>
            </a:r>
            <a:endParaRPr lang="en-US" sz="3200" dirty="0"/>
          </a:p>
        </p:txBody>
      </p:sp>
      <p:sp>
        <p:nvSpPr>
          <p:cNvPr id="4" name="Shape 2"/>
          <p:cNvSpPr/>
          <p:nvPr/>
        </p:nvSpPr>
        <p:spPr>
          <a:xfrm>
            <a:off x="815975" y="2082933"/>
            <a:ext cx="2101850" cy="858044"/>
          </a:xfrm>
          <a:prstGeom prst="roundRect">
            <a:avLst>
              <a:gd name="adj" fmla="val 11471"/>
            </a:avLst>
          </a:prstGeom>
          <a:solidFill>
            <a:srgbClr val="22324A"/>
          </a:solidFill>
          <a:ln w="6350">
            <a:solidFill>
              <a:srgbClr val="3A4E6B"/>
            </a:solidFill>
            <a:prstDash val="solid"/>
          </a:ln>
        </p:spPr>
      </p:sp>
      <p:sp>
        <p:nvSpPr>
          <p:cNvPr id="5" name="Text 3"/>
          <p:cNvSpPr/>
          <p:nvPr/>
        </p:nvSpPr>
        <p:spPr>
          <a:xfrm>
            <a:off x="994833" y="2261791"/>
            <a:ext cx="179645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F"/>
                </a:solidFill>
                <a:latin typeface="IBM Plex Sans" pitchFamily="34" charset="0"/>
                <a:ea typeface="IBM Plex Sans" pitchFamily="34" charset="-122"/>
                <a:cs typeface="IBM Plex Sans" pitchFamily="34" charset="-120"/>
              </a:rPr>
              <a:t>Sep 23</a:t>
            </a:r>
            <a:endParaRPr lang="en-US" sz="1600" dirty="0"/>
          </a:p>
        </p:txBody>
      </p:sp>
      <p:sp>
        <p:nvSpPr>
          <p:cNvPr id="6" name="Text 4"/>
          <p:cNvSpPr/>
          <p:nvPr/>
        </p:nvSpPr>
        <p:spPr>
          <a:xfrm>
            <a:off x="994833" y="2556405"/>
            <a:ext cx="1796457"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2DC"/>
                </a:solidFill>
                <a:latin typeface="IBM Plex Sans" pitchFamily="34" charset="0"/>
                <a:ea typeface="IBM Plex Sans" pitchFamily="34" charset="-122"/>
                <a:cs typeface="IBM Plex Sans" pitchFamily="34" charset="-120"/>
              </a:rPr>
              <a:t>Midterm rules</a:t>
            </a:r>
            <a:endParaRPr lang="en-US" sz="1200" dirty="0"/>
          </a:p>
        </p:txBody>
      </p:sp>
      <p:pic>
        <p:nvPicPr>
          <p:cNvPr id="7" name="Image 0" descr="arrow-right">    </p:cNvPr>
          <p:cNvPicPr>
            <a:picLocks noChangeAspect="1"/>
          </p:cNvPicPr>
          <p:nvPr/>
        </p:nvPicPr>
        <p:blipFill>
          <a:blip r:embed="rId2"/>
          <a:srcRect l="0" r="0" t="0" b="0"/>
          <a:stretch/>
        </p:blipFill>
        <p:spPr>
          <a:xfrm>
            <a:off x="3073400" y="2410355"/>
            <a:ext cx="406400" cy="203200"/>
          </a:xfrm>
          <a:prstGeom prst="rect">
            <a:avLst/>
          </a:prstGeom>
        </p:spPr>
      </p:pic>
      <p:sp>
        <p:nvSpPr>
          <p:cNvPr id="8" name="Shape 5"/>
          <p:cNvSpPr/>
          <p:nvPr/>
        </p:nvSpPr>
        <p:spPr>
          <a:xfrm>
            <a:off x="3632200" y="2083991"/>
            <a:ext cx="2108200" cy="855927"/>
          </a:xfrm>
          <a:prstGeom prst="roundRect">
            <a:avLst>
              <a:gd name="adj" fmla="val 11870"/>
            </a:avLst>
          </a:prstGeom>
          <a:solidFill>
            <a:srgbClr val="F6F4EF"/>
          </a:solidFill>
          <a:ln/>
        </p:spPr>
      </p:sp>
      <p:sp>
        <p:nvSpPr>
          <p:cNvPr id="9" name="Text 6"/>
          <p:cNvSpPr/>
          <p:nvPr/>
        </p:nvSpPr>
        <p:spPr>
          <a:xfrm>
            <a:off x="3810000" y="2261791"/>
            <a:ext cx="1805178"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02E"/>
                </a:solidFill>
                <a:latin typeface="IBM Plex Sans" pitchFamily="34" charset="0"/>
                <a:ea typeface="IBM Plex Sans" pitchFamily="34" charset="-122"/>
                <a:cs typeface="IBM Plex Sans" pitchFamily="34" charset="-120"/>
              </a:rPr>
              <a:t>Sep 26–29</a:t>
            </a:r>
            <a:endParaRPr lang="en-US" sz="1600" dirty="0"/>
          </a:p>
        </p:txBody>
      </p:sp>
      <p:sp>
        <p:nvSpPr>
          <p:cNvPr id="10" name="Text 7"/>
          <p:cNvSpPr/>
          <p:nvPr/>
        </p:nvSpPr>
        <p:spPr>
          <a:xfrm>
            <a:off x="3810000" y="2556405"/>
            <a:ext cx="1930400"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363"/>
                </a:solidFill>
                <a:latin typeface="IBM Plex Sans" pitchFamily="34" charset="0"/>
                <a:ea typeface="IBM Plex Sans" pitchFamily="34" charset="-122"/>
                <a:cs typeface="IBM Plex Sans" pitchFamily="34" charset="-120"/>
              </a:rPr>
              <a:t>Topic fixed</a:t>
            </a:r>
            <a:endParaRPr lang="en-US" sz="1200" dirty="0"/>
          </a:p>
        </p:txBody>
      </p:sp>
      <p:pic>
        <p:nvPicPr>
          <p:cNvPr id="11" name="Image 1" descr="arrow-right">    </p:cNvPr>
          <p:cNvPicPr>
            <a:picLocks noChangeAspect="1"/>
          </p:cNvPicPr>
          <p:nvPr/>
        </p:nvPicPr>
        <p:blipFill>
          <a:blip r:embed="rId3"/>
          <a:srcRect l="0" r="0" t="0" b="0"/>
          <a:stretch/>
        </p:blipFill>
        <p:spPr>
          <a:xfrm>
            <a:off x="5892800" y="2410355"/>
            <a:ext cx="406400" cy="203200"/>
          </a:xfrm>
          <a:prstGeom prst="rect">
            <a:avLst/>
          </a:prstGeom>
        </p:spPr>
      </p:pic>
      <p:sp>
        <p:nvSpPr>
          <p:cNvPr id="12" name="Shape 8"/>
          <p:cNvSpPr/>
          <p:nvPr/>
        </p:nvSpPr>
        <p:spPr>
          <a:xfrm>
            <a:off x="6451600" y="1981135"/>
            <a:ext cx="2108200" cy="1061641"/>
          </a:xfrm>
          <a:prstGeom prst="roundRect">
            <a:avLst>
              <a:gd name="adj" fmla="val 9570"/>
            </a:avLst>
          </a:prstGeom>
          <a:solidFill>
            <a:srgbClr val="F6F4EF"/>
          </a:solidFill>
          <a:ln/>
        </p:spPr>
      </p:sp>
      <p:sp>
        <p:nvSpPr>
          <p:cNvPr id="13" name="Text 9"/>
          <p:cNvSpPr/>
          <p:nvPr/>
        </p:nvSpPr>
        <p:spPr>
          <a:xfrm>
            <a:off x="6629400" y="2158935"/>
            <a:ext cx="1805178"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02E"/>
                </a:solidFill>
                <a:latin typeface="IBM Plex Sans" pitchFamily="34" charset="0"/>
                <a:ea typeface="IBM Plex Sans" pitchFamily="34" charset="-122"/>
                <a:cs typeface="IBM Plex Sans" pitchFamily="34" charset="-120"/>
              </a:rPr>
              <a:t>Oct 15–17</a:t>
            </a:r>
            <a:endParaRPr lang="en-US" sz="1600" dirty="0"/>
          </a:p>
        </p:txBody>
      </p:sp>
      <p:sp>
        <p:nvSpPr>
          <p:cNvPr id="14" name="Text 10"/>
          <p:cNvSpPr/>
          <p:nvPr/>
        </p:nvSpPr>
        <p:spPr>
          <a:xfrm>
            <a:off x="6629400" y="2453548"/>
            <a:ext cx="1805178"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363"/>
                </a:solidFill>
                <a:latin typeface="IBM Plex Sans" pitchFamily="34" charset="0"/>
                <a:ea typeface="IBM Plex Sans" pitchFamily="34" charset="-122"/>
                <a:cs typeface="IBM Plex Sans" pitchFamily="34" charset="-120"/>
              </a:rPr>
              <a:t>A and B built</a:t>
            </a:r>
            <a:endParaRPr lang="en-US" sz="1200" dirty="0"/>
          </a:p>
        </p:txBody>
      </p:sp>
      <p:pic>
        <p:nvPicPr>
          <p:cNvPr id="15" name="Image 2" descr="arrow-right">    </p:cNvPr>
          <p:cNvPicPr>
            <a:picLocks noChangeAspect="1"/>
          </p:cNvPicPr>
          <p:nvPr/>
        </p:nvPicPr>
        <p:blipFill>
          <a:blip r:embed="rId4"/>
          <a:srcRect l="0" r="0" t="0" b="0"/>
          <a:stretch/>
        </p:blipFill>
        <p:spPr>
          <a:xfrm>
            <a:off x="8712200" y="2410355"/>
            <a:ext cx="406400" cy="203200"/>
          </a:xfrm>
          <a:prstGeom prst="rect">
            <a:avLst/>
          </a:prstGeom>
        </p:spPr>
      </p:pic>
      <p:sp>
        <p:nvSpPr>
          <p:cNvPr id="16" name="Shape 11"/>
          <p:cNvSpPr/>
          <p:nvPr/>
        </p:nvSpPr>
        <p:spPr>
          <a:xfrm>
            <a:off x="9271000" y="2083991"/>
            <a:ext cx="2108200" cy="855927"/>
          </a:xfrm>
          <a:prstGeom prst="roundRect">
            <a:avLst>
              <a:gd name="adj" fmla="val 11870"/>
            </a:avLst>
          </a:prstGeom>
          <a:solidFill>
            <a:srgbClr val="F08A4B"/>
          </a:solidFill>
          <a:ln/>
        </p:spPr>
      </p:sp>
      <p:sp>
        <p:nvSpPr>
          <p:cNvPr id="17" name="Text 12"/>
          <p:cNvSpPr/>
          <p:nvPr/>
        </p:nvSpPr>
        <p:spPr>
          <a:xfrm>
            <a:off x="9448800" y="2261791"/>
            <a:ext cx="1805178"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02E"/>
                </a:solidFill>
                <a:latin typeface="IBM Plex Sans" pitchFamily="34" charset="0"/>
                <a:ea typeface="IBM Plex Sans" pitchFamily="34" charset="-122"/>
                <a:cs typeface="IBM Plex Sans" pitchFamily="34" charset="-120"/>
              </a:rPr>
              <a:t>Oct 22</a:t>
            </a:r>
            <a:endParaRPr lang="en-US" sz="1600" dirty="0"/>
          </a:p>
        </p:txBody>
      </p:sp>
      <p:sp>
        <p:nvSpPr>
          <p:cNvPr id="18" name="Text 13"/>
          <p:cNvSpPr/>
          <p:nvPr/>
        </p:nvSpPr>
        <p:spPr>
          <a:xfrm>
            <a:off x="9448800" y="2556405"/>
            <a:ext cx="1805178"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5202E"/>
                </a:solidFill>
                <a:latin typeface="IBM Plex Sans" pitchFamily="34" charset="0"/>
                <a:ea typeface="IBM Plex Sans" pitchFamily="34" charset="-122"/>
                <a:cs typeface="IBM Plex Sans" pitchFamily="34" charset="-120"/>
              </a:rPr>
              <a:t>Midterm talk</a:t>
            </a:r>
            <a:endParaRPr lang="en-US" sz="1200" dirty="0"/>
          </a:p>
        </p:txBody>
      </p:sp>
      <p:sp>
        <p:nvSpPr>
          <p:cNvPr id="19" name="Shape 14"/>
          <p:cNvSpPr/>
          <p:nvPr/>
        </p:nvSpPr>
        <p:spPr>
          <a:xfrm>
            <a:off x="812800" y="3306301"/>
            <a:ext cx="3386667" cy="0"/>
          </a:xfrm>
          <a:prstGeom prst="line">
            <a:avLst/>
          </a:prstGeom>
          <a:noFill/>
          <a:ln w="19050">
            <a:solidFill>
              <a:srgbClr val="F6F4EF"/>
            </a:solidFill>
            <a:prstDash val="solid"/>
          </a:ln>
        </p:spPr>
      </p:sp>
      <p:sp>
        <p:nvSpPr>
          <p:cNvPr id="20" name="Text 15"/>
          <p:cNvSpPr/>
          <p:nvPr/>
        </p:nvSpPr>
        <p:spPr>
          <a:xfrm>
            <a:off x="812800" y="3466108"/>
            <a:ext cx="348826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F"/>
                </a:solidFill>
                <a:latin typeface="IBM Plex Sans" pitchFamily="34" charset="0"/>
                <a:ea typeface="IBM Plex Sans" pitchFamily="34" charset="-122"/>
                <a:cs typeface="IBM Plex Sans" pitchFamily="34" charset="-120"/>
              </a:rPr>
              <a:t>Done</a:t>
            </a:r>
            <a:endParaRPr lang="en-US" sz="1600" dirty="0"/>
          </a:p>
        </p:txBody>
      </p:sp>
      <p:sp>
        <p:nvSpPr>
          <p:cNvPr id="21" name="Text 16"/>
          <p:cNvSpPr/>
          <p:nvPr/>
        </p:nvSpPr>
        <p:spPr>
          <a:xfrm>
            <a:off x="812800" y="3786122"/>
            <a:ext cx="348826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DC"/>
                </a:solidFill>
                <a:latin typeface="IBM Plex Sans" pitchFamily="34" charset="0"/>
                <a:ea typeface="IBM Plex Sans" pitchFamily="34" charset="-122"/>
                <a:cs typeface="IBM Plex Sans" pitchFamily="34" charset="-120"/>
              </a:rPr>
              <a:t>Topic and data (MOT16), Pipeline A, Pipeline B, common evaluation, report draft, two target videos.</a:t>
            </a:r>
            <a:endParaRPr lang="en-US" sz="1300" dirty="0"/>
          </a:p>
        </p:txBody>
      </p:sp>
      <p:sp>
        <p:nvSpPr>
          <p:cNvPr id="22" name="Shape 17"/>
          <p:cNvSpPr/>
          <p:nvPr/>
        </p:nvSpPr>
        <p:spPr>
          <a:xfrm>
            <a:off x="4402667" y="3306301"/>
            <a:ext cx="3386667" cy="0"/>
          </a:xfrm>
          <a:prstGeom prst="line">
            <a:avLst/>
          </a:prstGeom>
          <a:noFill/>
          <a:ln w="19050">
            <a:solidFill>
              <a:srgbClr val="F6F4EF"/>
            </a:solidFill>
            <a:prstDash val="solid"/>
          </a:ln>
        </p:spPr>
      </p:sp>
      <p:sp>
        <p:nvSpPr>
          <p:cNvPr id="23" name="Text 18"/>
          <p:cNvSpPr/>
          <p:nvPr/>
        </p:nvSpPr>
        <p:spPr>
          <a:xfrm>
            <a:off x="4402667" y="3466108"/>
            <a:ext cx="348826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F"/>
                </a:solidFill>
                <a:latin typeface="IBM Plex Sans" pitchFamily="34" charset="0"/>
                <a:ea typeface="IBM Plex Sans" pitchFamily="34" charset="-122"/>
                <a:cs typeface="IBM Plex Sans" pitchFamily="34" charset="-120"/>
              </a:rPr>
              <a:t>Next, before the final</a:t>
            </a:r>
            <a:endParaRPr lang="en-US" sz="1600" dirty="0"/>
          </a:p>
        </p:txBody>
      </p:sp>
      <p:sp>
        <p:nvSpPr>
          <p:cNvPr id="24" name="Text 19"/>
          <p:cNvSpPr/>
          <p:nvPr/>
        </p:nvSpPr>
        <p:spPr>
          <a:xfrm>
            <a:off x="4402667" y="3786122"/>
            <a:ext cx="348826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DC"/>
                </a:solidFill>
                <a:latin typeface="IBM Plex Sans" pitchFamily="34" charset="0"/>
                <a:ea typeface="IBM Plex Sans" pitchFamily="34" charset="-122"/>
                <a:cs typeface="IBM Plex Sans" pitchFamily="34" charset="-120"/>
              </a:rPr>
              <a:t>Test a second validation sequence, train with static-person labels, apply the repair to Pipeline A’s tracker, finish the report.</a:t>
            </a:r>
            <a:endParaRPr lang="en-US" sz="1300" dirty="0"/>
          </a:p>
        </p:txBody>
      </p:sp>
      <p:sp>
        <p:nvSpPr>
          <p:cNvPr id="25" name="Shape 20"/>
          <p:cNvSpPr/>
          <p:nvPr/>
        </p:nvSpPr>
        <p:spPr>
          <a:xfrm>
            <a:off x="7992534" y="3306301"/>
            <a:ext cx="3386667" cy="0"/>
          </a:xfrm>
          <a:prstGeom prst="line">
            <a:avLst/>
          </a:prstGeom>
          <a:noFill/>
          <a:ln w="19050">
            <a:solidFill>
              <a:srgbClr val="F08A4B"/>
            </a:solidFill>
            <a:prstDash val="solid"/>
          </a:ln>
        </p:spPr>
      </p:sp>
      <p:sp>
        <p:nvSpPr>
          <p:cNvPr id="26" name="Text 21"/>
          <p:cNvSpPr/>
          <p:nvPr/>
        </p:nvSpPr>
        <p:spPr>
          <a:xfrm>
            <a:off x="7992534" y="3466108"/>
            <a:ext cx="348826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08A4B"/>
                </a:solidFill>
                <a:latin typeface="IBM Plex Sans" pitchFamily="34" charset="0"/>
                <a:ea typeface="IBM Plex Sans" pitchFamily="34" charset="-122"/>
                <a:cs typeface="IBM Plex Sans" pitchFamily="34" charset="-120"/>
              </a:rPr>
              <a:t>Final deliverables</a:t>
            </a:r>
            <a:endParaRPr lang="en-US" sz="1600" dirty="0"/>
          </a:p>
        </p:txBody>
      </p:sp>
      <p:sp>
        <p:nvSpPr>
          <p:cNvPr id="27" name="Text 22"/>
          <p:cNvSpPr/>
          <p:nvPr/>
        </p:nvSpPr>
        <p:spPr>
          <a:xfrm>
            <a:off x="7992534" y="3786122"/>
            <a:ext cx="348826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DC"/>
                </a:solidFill>
                <a:latin typeface="IBM Plex Sans" pitchFamily="34" charset="0"/>
                <a:ea typeface="IBM Plex Sans" pitchFamily="34" charset="-122"/>
                <a:cs typeface="IBM Plex Sans" pitchFamily="34" charset="-120"/>
              </a:rPr>
              <a:t>Code (no weights), target video on a MOT16 test sequence, PDF report (at least 4 pages), final presentation, anonymous questionnaire. Date to be announced.</a:t>
            </a:r>
            <a:endParaRPr lang="en-US" sz="1300" dirty="0"/>
          </a:p>
        </p:txBody>
      </p:sp>
      <p:sp>
        <p:nvSpPr>
          <p:cNvPr id="28" name="Text 2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7B6"/>
                </a:solidFill>
                <a:latin typeface="IBM Plex Sans" pitchFamily="34" charset="0"/>
                <a:ea typeface="IBM Plex Sans" pitchFamily="34" charset="-122"/>
                <a:cs typeface="IBM Plex Sans" pitchFamily="34" charset="-120"/>
              </a:rPr>
              <a:t>Rehan Ali · 4</a:t>
            </a:r>
            <a:endParaRPr lang="en-US" sz="1200" dirty="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4EF"/>
        </a:solidFill>
      </p:bgPr>
    </p:bg>
    <p:spTree>
      <p:nvGrpSpPr>
        <p:cNvPr id="1" name=""/>
        <p:cNvGrpSpPr/>
        <p:nvPr/>
      </p:nvGrpSpPr>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8501F"/>
                </a:solidFill>
                <a:latin typeface="IBM Plex Sans" pitchFamily="34" charset="0"/>
                <a:ea typeface="IBM Plex Sans" pitchFamily="34" charset="-122"/>
                <a:cs typeface="IBM Plex Sans" pitchFamily="34" charset="-120"/>
              </a:rPr>
              <a:t>3 · CURRENT PROGRESS · EXPERIMENTS WITH THE CODE</a:t>
            </a:r>
            <a:endParaRPr lang="en-US" sz="1200" dirty="0"/>
          </a:p>
        </p:txBody>
      </p:sp>
      <p:sp>
        <p:nvSpPr>
          <p:cNvPr id="3" name="Text 1"/>
          <p:cNvSpPr/>
          <p:nvPr>
            <p:ph type="title"/>
          </p:nvPr>
        </p:nvSpPr>
        <p:spPr>
          <a:xfrm>
            <a:off x="812800" y="12293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5202E"/>
                </a:solidFill>
                <a:latin typeface="Space Grotesk" pitchFamily="34" charset="0"/>
                <a:ea typeface="Space Grotesk" pitchFamily="34" charset="-122"/>
                <a:cs typeface="Space Grotesk" pitchFamily="34" charset="-120"/>
              </a:rPr>
              <a:t>Four things we changed, and what happened</a:t>
            </a:r>
            <a:endParaRPr lang="en-US" sz="3200" dirty="0"/>
          </a:p>
        </p:txBody>
      </p:sp>
      <p:sp>
        <p:nvSpPr>
          <p:cNvPr id="4" name="Shape 2"/>
          <p:cNvSpPr/>
          <p:nvPr/>
        </p:nvSpPr>
        <p:spPr>
          <a:xfrm>
            <a:off x="815975" y="1882713"/>
            <a:ext cx="5187950" cy="1470091"/>
          </a:xfrm>
          <a:prstGeom prst="roundRect">
            <a:avLst>
              <a:gd name="adj" fmla="val 6695"/>
            </a:avLst>
          </a:prstGeom>
          <a:solidFill>
            <a:srgbClr val="FFFFFF"/>
          </a:solidFill>
          <a:ln w="6350">
            <a:solidFill>
              <a:srgbClr val="E2DED5"/>
            </a:solidFill>
            <a:prstDash val="solid"/>
          </a:ln>
        </p:spPr>
      </p:sp>
      <p:sp>
        <p:nvSpPr>
          <p:cNvPr id="5" name="Text 3"/>
          <p:cNvSpPr/>
          <p:nvPr/>
        </p:nvSpPr>
        <p:spPr>
          <a:xfrm>
            <a:off x="1020233" y="2086967"/>
            <a:ext cx="492281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FB3"/>
                </a:solidFill>
                <a:latin typeface="IBM Plex Sans" pitchFamily="34" charset="0"/>
                <a:ea typeface="IBM Plex Sans" pitchFamily="34" charset="-122"/>
                <a:cs typeface="IBM Plex Sans" pitchFamily="34" charset="-120"/>
              </a:rPr>
              <a:t>1 · Augmentation (B)</a:t>
            </a:r>
            <a:endParaRPr lang="en-US" sz="1200" dirty="0"/>
          </a:p>
        </p:txBody>
      </p:sp>
      <p:sp>
        <p:nvSpPr>
          <p:cNvPr id="6" name="Text 4"/>
          <p:cNvSpPr/>
          <p:nvPr/>
        </p:nvSpPr>
        <p:spPr>
          <a:xfrm>
            <a:off x="1020233" y="2363788"/>
            <a:ext cx="4922816"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5202E"/>
                </a:solidFill>
                <a:latin typeface="IBM Plex Sans" pitchFamily="34" charset="0"/>
                <a:ea typeface="IBM Plex Sans" pitchFamily="34" charset="-122"/>
                <a:cs typeface="IBM Plex Sans" pitchFamily="34" charset="-120"/>
              </a:rPr>
              <a:t>YOLO scale 0.5 → 0.0</a:t>
            </a:r>
            <a:endParaRPr lang="en-US" sz="1700" dirty="0"/>
          </a:p>
        </p:txBody>
      </p:sp>
      <p:sp>
        <p:nvSpPr>
          <p:cNvPr id="7" name="Text 5"/>
          <p:cNvSpPr/>
          <p:nvPr/>
        </p:nvSpPr>
        <p:spPr>
          <a:xfrm>
            <a:off x="1020233" y="2686317"/>
            <a:ext cx="4922816"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pitchFamily="34" charset="0"/>
                <a:ea typeface="IBM Plex Sans" pitchFamily="34" charset="-122"/>
                <a:cs typeface="IBM Plex Sans" pitchFamily="34" charset="-120"/>
              </a:rPr>
              <a:t>Precision 0.901 → 0.948, recall 0.748 → 0.736, mAP50 0.867 → 0.864 (one seed: within noise).</a:t>
            </a:r>
            <a:endParaRPr lang="en-US" sz="1300" dirty="0"/>
          </a:p>
        </p:txBody>
      </p:sp>
      <p:sp>
        <p:nvSpPr>
          <p:cNvPr id="8" name="Shape 6"/>
          <p:cNvSpPr/>
          <p:nvPr/>
        </p:nvSpPr>
        <p:spPr>
          <a:xfrm>
            <a:off x="6188075" y="1882713"/>
            <a:ext cx="5187950" cy="1470091"/>
          </a:xfrm>
          <a:prstGeom prst="roundRect">
            <a:avLst>
              <a:gd name="adj" fmla="val 6695"/>
            </a:avLst>
          </a:prstGeom>
          <a:solidFill>
            <a:srgbClr val="FFFFFF"/>
          </a:solidFill>
          <a:ln w="6350">
            <a:solidFill>
              <a:srgbClr val="E2DED5"/>
            </a:solidFill>
            <a:prstDash val="solid"/>
          </a:ln>
        </p:spPr>
      </p:sp>
      <p:sp>
        <p:nvSpPr>
          <p:cNvPr id="9" name="Text 7"/>
          <p:cNvSpPr/>
          <p:nvPr/>
        </p:nvSpPr>
        <p:spPr>
          <a:xfrm>
            <a:off x="6392333" y="2086967"/>
            <a:ext cx="492281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FB3"/>
                </a:solidFill>
                <a:latin typeface="IBM Plex Sans" pitchFamily="34" charset="0"/>
                <a:ea typeface="IBM Plex Sans" pitchFamily="34" charset="-122"/>
                <a:cs typeface="IBM Plex Sans" pitchFamily="34" charset="-120"/>
              </a:rPr>
              <a:t>2 · Tracker steps (A)</a:t>
            </a:r>
            <a:endParaRPr lang="en-US" sz="1200" dirty="0"/>
          </a:p>
        </p:txBody>
      </p:sp>
      <p:sp>
        <p:nvSpPr>
          <p:cNvPr id="10" name="Text 8"/>
          <p:cNvSpPr/>
          <p:nvPr/>
        </p:nvSpPr>
        <p:spPr>
          <a:xfrm>
            <a:off x="6392333" y="2363788"/>
            <a:ext cx="4922816"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5202E"/>
                </a:solidFill>
                <a:latin typeface="IBM Plex Sans" pitchFamily="34" charset="0"/>
                <a:ea typeface="IBM Plex Sans" pitchFamily="34" charset="-122"/>
                <a:cs typeface="IBM Plex Sans" pitchFamily="34" charset="-120"/>
              </a:rPr>
              <a:t>Add one step at a time</a:t>
            </a:r>
            <a:endParaRPr lang="en-US" sz="1700" dirty="0"/>
          </a:p>
        </p:txBody>
      </p:sp>
      <p:sp>
        <p:nvSpPr>
          <p:cNvPr id="11" name="Text 9"/>
          <p:cNvSpPr/>
          <p:nvPr/>
        </p:nvSpPr>
        <p:spPr>
          <a:xfrm>
            <a:off x="6392333" y="2686317"/>
            <a:ext cx="4922816"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pitchFamily="34" charset="0"/>
                <a:ea typeface="IBM Plex Sans" pitchFamily="34" charset="-122"/>
                <a:cs typeface="IBM Plex Sans" pitchFamily="34" charset="-120"/>
              </a:rPr>
              <a:t>IDF1 47.7 (IoU only) → 56.2 (+ Kalman) → 62.2 (+ Siamese) → 60.3 (final).</a:t>
            </a:r>
            <a:endParaRPr lang="en-US" sz="1300" dirty="0"/>
          </a:p>
        </p:txBody>
      </p:sp>
      <p:sp>
        <p:nvSpPr>
          <p:cNvPr id="12" name="Shape 10"/>
          <p:cNvSpPr/>
          <p:nvPr/>
        </p:nvSpPr>
        <p:spPr>
          <a:xfrm>
            <a:off x="815975" y="3536950"/>
            <a:ext cx="5187950" cy="1470091"/>
          </a:xfrm>
          <a:prstGeom prst="roundRect">
            <a:avLst>
              <a:gd name="adj" fmla="val 6695"/>
            </a:avLst>
          </a:prstGeom>
          <a:solidFill>
            <a:srgbClr val="FFFFFF"/>
          </a:solidFill>
          <a:ln w="6350">
            <a:solidFill>
              <a:srgbClr val="E2DED5"/>
            </a:solidFill>
            <a:prstDash val="solid"/>
          </a:ln>
        </p:spPr>
      </p:sp>
      <p:sp>
        <p:nvSpPr>
          <p:cNvPr id="13" name="Text 11"/>
          <p:cNvSpPr/>
          <p:nvPr/>
        </p:nvSpPr>
        <p:spPr>
          <a:xfrm>
            <a:off x="1020233" y="3741210"/>
            <a:ext cx="492281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FB3"/>
                </a:solidFill>
                <a:latin typeface="IBM Plex Sans" pitchFamily="34" charset="0"/>
                <a:ea typeface="IBM Plex Sans" pitchFamily="34" charset="-122"/>
                <a:cs typeface="IBM Plex Sans" pitchFamily="34" charset="-120"/>
              </a:rPr>
              <a:t>3 · Repair thresholds (B)</a:t>
            </a:r>
            <a:endParaRPr lang="en-US" sz="1200" dirty="0"/>
          </a:p>
        </p:txBody>
      </p:sp>
      <p:sp>
        <p:nvSpPr>
          <p:cNvPr id="14" name="Text 12"/>
          <p:cNvSpPr/>
          <p:nvPr/>
        </p:nvSpPr>
        <p:spPr>
          <a:xfrm>
            <a:off x="1020233" y="4018031"/>
            <a:ext cx="4922816"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5202E"/>
                </a:solidFill>
                <a:latin typeface="IBM Plex Sans" pitchFamily="34" charset="0"/>
                <a:ea typeface="IBM Plex Sans" pitchFamily="34" charset="-122"/>
                <a:cs typeface="IBM Plex Sans" pitchFamily="34" charset="-120"/>
              </a:rPr>
              <a:t>Split and merge</a:t>
            </a:r>
            <a:endParaRPr lang="en-US" sz="1700" dirty="0"/>
          </a:p>
        </p:txBody>
      </p:sp>
      <p:sp>
        <p:nvSpPr>
          <p:cNvPr id="15" name="Text 13"/>
          <p:cNvSpPr/>
          <p:nvPr/>
        </p:nvSpPr>
        <p:spPr>
          <a:xfrm>
            <a:off x="1020233" y="4340560"/>
            <a:ext cx="4922816"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pitchFamily="34" charset="0"/>
                <a:ea typeface="IBM Plex Sans" pitchFamily="34" charset="-122"/>
                <a:cs typeface="IBM Plex Sans" pitchFamily="34" charset="-120"/>
              </a:rPr>
              <a:t>Split 0.5 + merge 0.35: HOTA 48.40 → 55.30. Split 0.4 cuts too often (74–75 ID switches).</a:t>
            </a:r>
            <a:endParaRPr lang="en-US" sz="1300" dirty="0"/>
          </a:p>
        </p:txBody>
      </p:sp>
      <p:sp>
        <p:nvSpPr>
          <p:cNvPr id="16" name="Shape 14"/>
          <p:cNvSpPr/>
          <p:nvPr/>
        </p:nvSpPr>
        <p:spPr>
          <a:xfrm>
            <a:off x="6188075" y="3536950"/>
            <a:ext cx="5187950" cy="1470091"/>
          </a:xfrm>
          <a:prstGeom prst="roundRect">
            <a:avLst>
              <a:gd name="adj" fmla="val 6695"/>
            </a:avLst>
          </a:prstGeom>
          <a:solidFill>
            <a:srgbClr val="FFFFFF"/>
          </a:solidFill>
          <a:ln w="6350">
            <a:solidFill>
              <a:srgbClr val="E2DED5"/>
            </a:solidFill>
            <a:prstDash val="solid"/>
          </a:ln>
        </p:spPr>
      </p:sp>
      <p:sp>
        <p:nvSpPr>
          <p:cNvPr id="17" name="Text 15"/>
          <p:cNvSpPr/>
          <p:nvPr/>
        </p:nvSpPr>
        <p:spPr>
          <a:xfrm>
            <a:off x="6392333" y="3741210"/>
            <a:ext cx="492281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501F"/>
                </a:solidFill>
                <a:latin typeface="IBM Plex Sans" pitchFamily="34" charset="0"/>
                <a:ea typeface="IBM Plex Sans" pitchFamily="34" charset="-122"/>
                <a:cs typeface="IBM Plex Sans" pitchFamily="34" charset="-120"/>
              </a:rPr>
              <a:t>4 · Score thresholds (hybrid)</a:t>
            </a:r>
            <a:endParaRPr lang="en-US" sz="1200" dirty="0"/>
          </a:p>
        </p:txBody>
      </p:sp>
      <p:sp>
        <p:nvSpPr>
          <p:cNvPr id="18" name="Text 16"/>
          <p:cNvSpPr/>
          <p:nvPr/>
        </p:nvSpPr>
        <p:spPr>
          <a:xfrm>
            <a:off x="6392333" y="4018031"/>
            <a:ext cx="4922816"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5202E"/>
                </a:solidFill>
                <a:latin typeface="IBM Plex Sans" pitchFamily="34" charset="0"/>
                <a:ea typeface="IBM Plex Sans" pitchFamily="34" charset="-122"/>
                <a:cs typeface="IBM Plex Sans" pitchFamily="34" charset="-120"/>
              </a:rPr>
              <a:t>0.7/0.6 → 0.4/0.3</a:t>
            </a:r>
            <a:endParaRPr lang="en-US" sz="1700" dirty="0"/>
          </a:p>
        </p:txBody>
      </p:sp>
      <p:sp>
        <p:nvSpPr>
          <p:cNvPr id="19" name="Text 17"/>
          <p:cNvSpPr/>
          <p:nvPr/>
        </p:nvSpPr>
        <p:spPr>
          <a:xfrm>
            <a:off x="6392333" y="4340560"/>
            <a:ext cx="4922816"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pitchFamily="34" charset="0"/>
                <a:ea typeface="IBM Plex Sans" pitchFamily="34" charset="-122"/>
                <a:cs typeface="IBM Plex Sans" pitchFamily="34" charset="-120"/>
              </a:rPr>
              <a:t>Misses 1,609 → 1,208, but AssA 44.57 → 38.40.</a:t>
            </a:r>
            <a:endParaRPr lang="en-US" sz="13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0"/>
                </a:solidFill>
                <a:latin typeface="IBM Plex Sans" pitchFamily="34" charset="0"/>
                <a:ea typeface="IBM Plex Sans" pitchFamily="34" charset="-122"/>
                <a:cs typeface="IBM Plex Sans" pitchFamily="34" charset="-120"/>
              </a:rPr>
              <a:t>Tony Nguyen · 12</a:t>
            </a:r>
            <a:endParaRPr lang="en-US" sz="1200" dirty="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5202E"/>
        </a:solidFill>
      </p:bgPr>
    </p:bg>
    <p:spTree>
      <p:nvGrpSpPr>
        <p:cNvPr id="1" name=""/>
        <p:cNvGrpSpPr/>
        <p:nvPr/>
      </p:nvGrpSpPr>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8A4B"/>
                </a:solidFill>
                <a:latin typeface="IBM Plex Sans" pitchFamily="34" charset="0"/>
                <a:ea typeface="IBM Plex Sans" pitchFamily="34" charset="-122"/>
                <a:cs typeface="IBM Plex Sans" pitchFamily="34" charset="-120"/>
              </a:rPr>
              <a:t>NEXT STEPS · QUESTIONS</a:t>
            </a:r>
            <a:endParaRPr lang="en-US" sz="1200" dirty="0"/>
          </a:p>
        </p:txBody>
      </p:sp>
      <p:sp>
        <p:nvSpPr>
          <p:cNvPr id="3" name="Text 1"/>
          <p:cNvSpPr/>
          <p:nvPr>
            <p:ph type="title"/>
          </p:nvPr>
        </p:nvSpPr>
        <p:spPr>
          <a:xfrm>
            <a:off x="812800" y="133092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F6F4EF"/>
                </a:solidFill>
                <a:latin typeface="Space Grotesk" pitchFamily="34" charset="0"/>
                <a:ea typeface="Space Grotesk" pitchFamily="34" charset="-122"/>
                <a:cs typeface="Space Grotesk" pitchFamily="34" charset="-120"/>
              </a:rPr>
              <a:t>Thank you. Questions?</a:t>
            </a:r>
            <a:endParaRPr lang="en-US" sz="4000" dirty="0"/>
          </a:p>
        </p:txBody>
      </p:sp>
      <p:sp>
        <p:nvSpPr>
          <p:cNvPr id="4" name="Shape 2"/>
          <p:cNvSpPr/>
          <p:nvPr/>
        </p:nvSpPr>
        <p:spPr>
          <a:xfrm>
            <a:off x="812800" y="2204045"/>
            <a:ext cx="2489200" cy="0"/>
          </a:xfrm>
          <a:prstGeom prst="line">
            <a:avLst/>
          </a:prstGeom>
          <a:noFill/>
          <a:ln w="19050">
            <a:solidFill>
              <a:srgbClr val="F6F4EF"/>
            </a:solidFill>
            <a:prstDash val="solid"/>
          </a:ln>
        </p:spPr>
      </p:sp>
      <p:sp>
        <p:nvSpPr>
          <p:cNvPr id="5" name="Text 3"/>
          <p:cNvSpPr/>
          <p:nvPr/>
        </p:nvSpPr>
        <p:spPr>
          <a:xfrm>
            <a:off x="812800" y="2363856"/>
            <a:ext cx="2563876" cy="398727"/>
          </a:xfrm>
          <a:prstGeom prst="rect">
            <a:avLst/>
          </a:prstGeom>
          <a:noFill/>
          <a:ln/>
        </p:spPr>
        <p:txBody>
          <a:bodyPr wrap="square" lIns="0" tIns="0" rIns="0" bIns="0" rtlCol="0" anchor="t">
            <a:normAutofit/>
          </a:bodyPr>
          <a:lstStyle/>
          <a:p>
            <a:pPr algn="l" indent="0" marL="0">
              <a:lnSpc>
                <a:spcPts val="2940"/>
              </a:lnSpc>
              <a:buNone/>
            </a:pPr>
            <a:r>
              <a:rPr lang="en-US" sz="2800" b="1" dirty="0">
                <a:solidFill>
                  <a:srgbClr val="F6F4EF"/>
                </a:solidFill>
                <a:latin typeface="Space Grotesk" pitchFamily="34" charset="0"/>
                <a:ea typeface="Space Grotesk" pitchFamily="34" charset="-122"/>
                <a:cs typeface="Space Grotesk" pitchFamily="34" charset="-120"/>
              </a:rPr>
              <a:t>Test</a:t>
            </a:r>
            <a:endParaRPr lang="en-US" sz="2800" dirty="0"/>
          </a:p>
        </p:txBody>
      </p:sp>
      <p:sp>
        <p:nvSpPr>
          <p:cNvPr id="6" name="Text 4"/>
          <p:cNvSpPr/>
          <p:nvPr/>
        </p:nvSpPr>
        <p:spPr>
          <a:xfrm>
            <a:off x="812800" y="2787985"/>
            <a:ext cx="2563876" cy="54864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D2DC"/>
                </a:solidFill>
                <a:latin typeface="IBM Plex Sans" pitchFamily="34" charset="0"/>
                <a:ea typeface="IBM Plex Sans" pitchFamily="34" charset="-122"/>
                <a:cs typeface="IBM Plex Sans" pitchFamily="34" charset="-120"/>
              </a:rPr>
              <a:t>a second validation sequence</a:t>
            </a:r>
            <a:endParaRPr lang="en-US" sz="1300" dirty="0"/>
          </a:p>
        </p:txBody>
      </p:sp>
      <p:sp>
        <p:nvSpPr>
          <p:cNvPr id="7" name="Shape 5"/>
          <p:cNvSpPr/>
          <p:nvPr/>
        </p:nvSpPr>
        <p:spPr>
          <a:xfrm>
            <a:off x="3505200" y="2204045"/>
            <a:ext cx="2489200" cy="0"/>
          </a:xfrm>
          <a:prstGeom prst="line">
            <a:avLst/>
          </a:prstGeom>
          <a:noFill/>
          <a:ln w="19050">
            <a:solidFill>
              <a:srgbClr val="F6F4EF"/>
            </a:solidFill>
            <a:prstDash val="solid"/>
          </a:ln>
        </p:spPr>
      </p:sp>
      <p:sp>
        <p:nvSpPr>
          <p:cNvPr id="8" name="Text 6"/>
          <p:cNvSpPr/>
          <p:nvPr/>
        </p:nvSpPr>
        <p:spPr>
          <a:xfrm>
            <a:off x="3505200" y="2363856"/>
            <a:ext cx="2563876" cy="398727"/>
          </a:xfrm>
          <a:prstGeom prst="rect">
            <a:avLst/>
          </a:prstGeom>
          <a:noFill/>
          <a:ln/>
        </p:spPr>
        <p:txBody>
          <a:bodyPr wrap="square" lIns="0" tIns="0" rIns="0" bIns="0" rtlCol="0" anchor="t">
            <a:normAutofit/>
          </a:bodyPr>
          <a:lstStyle/>
          <a:p>
            <a:pPr algn="l" indent="0" marL="0">
              <a:lnSpc>
                <a:spcPts val="2940"/>
              </a:lnSpc>
              <a:buNone/>
            </a:pPr>
            <a:r>
              <a:rPr lang="en-US" sz="2800" b="1" dirty="0">
                <a:solidFill>
                  <a:srgbClr val="F6F4EF"/>
                </a:solidFill>
                <a:latin typeface="Space Grotesk" pitchFamily="34" charset="0"/>
                <a:ea typeface="Space Grotesk" pitchFamily="34" charset="-122"/>
                <a:cs typeface="Space Grotesk" pitchFamily="34" charset="-120"/>
              </a:rPr>
              <a:t>Train</a:t>
            </a:r>
            <a:endParaRPr lang="en-US" sz="2800" dirty="0"/>
          </a:p>
        </p:txBody>
      </p:sp>
      <p:sp>
        <p:nvSpPr>
          <p:cNvPr id="9" name="Text 7"/>
          <p:cNvSpPr/>
          <p:nvPr/>
        </p:nvSpPr>
        <p:spPr>
          <a:xfrm>
            <a:off x="3505200" y="2787985"/>
            <a:ext cx="2563876" cy="54864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D2DC"/>
                </a:solidFill>
                <a:latin typeface="IBM Plex Sans" pitchFamily="34" charset="0"/>
                <a:ea typeface="IBM Plex Sans" pitchFamily="34" charset="-122"/>
                <a:cs typeface="IBM Plex Sans" pitchFamily="34" charset="-120"/>
              </a:rPr>
              <a:t>with static people in the labels</a:t>
            </a:r>
            <a:endParaRPr lang="en-US" sz="1300" dirty="0"/>
          </a:p>
        </p:txBody>
      </p:sp>
      <p:sp>
        <p:nvSpPr>
          <p:cNvPr id="10" name="Shape 8"/>
          <p:cNvSpPr/>
          <p:nvPr/>
        </p:nvSpPr>
        <p:spPr>
          <a:xfrm>
            <a:off x="6197600" y="2204045"/>
            <a:ext cx="2489200" cy="0"/>
          </a:xfrm>
          <a:prstGeom prst="line">
            <a:avLst/>
          </a:prstGeom>
          <a:noFill/>
          <a:ln w="19050">
            <a:solidFill>
              <a:srgbClr val="F6F4EF"/>
            </a:solidFill>
            <a:prstDash val="solid"/>
          </a:ln>
        </p:spPr>
      </p:sp>
      <p:sp>
        <p:nvSpPr>
          <p:cNvPr id="11" name="Text 9"/>
          <p:cNvSpPr/>
          <p:nvPr/>
        </p:nvSpPr>
        <p:spPr>
          <a:xfrm>
            <a:off x="6197600" y="2363856"/>
            <a:ext cx="2563876" cy="398727"/>
          </a:xfrm>
          <a:prstGeom prst="rect">
            <a:avLst/>
          </a:prstGeom>
          <a:noFill/>
          <a:ln/>
        </p:spPr>
        <p:txBody>
          <a:bodyPr wrap="square" lIns="0" tIns="0" rIns="0" bIns="0" rtlCol="0" anchor="t">
            <a:normAutofit/>
          </a:bodyPr>
          <a:lstStyle/>
          <a:p>
            <a:pPr algn="l" indent="0" marL="0">
              <a:lnSpc>
                <a:spcPts val="2940"/>
              </a:lnSpc>
              <a:buNone/>
            </a:pPr>
            <a:r>
              <a:rPr lang="en-US" sz="2800" b="1" dirty="0">
                <a:solidFill>
                  <a:srgbClr val="F6F4EF"/>
                </a:solidFill>
                <a:latin typeface="Space Grotesk" pitchFamily="34" charset="0"/>
                <a:ea typeface="Space Grotesk" pitchFamily="34" charset="-122"/>
                <a:cs typeface="Space Grotesk" pitchFamily="34" charset="-120"/>
              </a:rPr>
              <a:t>Combine</a:t>
            </a:r>
            <a:endParaRPr lang="en-US" sz="2800" dirty="0"/>
          </a:p>
        </p:txBody>
      </p:sp>
      <p:sp>
        <p:nvSpPr>
          <p:cNvPr id="12" name="Text 10"/>
          <p:cNvSpPr/>
          <p:nvPr/>
        </p:nvSpPr>
        <p:spPr>
          <a:xfrm>
            <a:off x="6197600" y="2787985"/>
            <a:ext cx="2563876" cy="54864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D2DC"/>
                </a:solidFill>
                <a:latin typeface="IBM Plex Sans" pitchFamily="34" charset="0"/>
                <a:ea typeface="IBM Plex Sans" pitchFamily="34" charset="-122"/>
                <a:cs typeface="IBM Plex Sans" pitchFamily="34" charset="-120"/>
              </a:rPr>
              <a:t>the repair with Pipeline A’s tracker</a:t>
            </a:r>
            <a:endParaRPr lang="en-US" sz="1300" dirty="0"/>
          </a:p>
        </p:txBody>
      </p:sp>
      <p:sp>
        <p:nvSpPr>
          <p:cNvPr id="13" name="Shape 11"/>
          <p:cNvSpPr/>
          <p:nvPr/>
        </p:nvSpPr>
        <p:spPr>
          <a:xfrm>
            <a:off x="8890000" y="2204045"/>
            <a:ext cx="2489200" cy="0"/>
          </a:xfrm>
          <a:prstGeom prst="line">
            <a:avLst/>
          </a:prstGeom>
          <a:noFill/>
          <a:ln w="19050">
            <a:solidFill>
              <a:srgbClr val="F08A4B"/>
            </a:solidFill>
            <a:prstDash val="solid"/>
          </a:ln>
        </p:spPr>
      </p:sp>
      <p:sp>
        <p:nvSpPr>
          <p:cNvPr id="14" name="Text 12"/>
          <p:cNvSpPr/>
          <p:nvPr/>
        </p:nvSpPr>
        <p:spPr>
          <a:xfrm>
            <a:off x="8890000" y="2363856"/>
            <a:ext cx="2563876" cy="398727"/>
          </a:xfrm>
          <a:prstGeom prst="rect">
            <a:avLst/>
          </a:prstGeom>
          <a:noFill/>
          <a:ln/>
        </p:spPr>
        <p:txBody>
          <a:bodyPr wrap="square" lIns="0" tIns="0" rIns="0" bIns="0" rtlCol="0" anchor="t">
            <a:normAutofit/>
          </a:bodyPr>
          <a:lstStyle/>
          <a:p>
            <a:pPr algn="l" indent="0" marL="0">
              <a:lnSpc>
                <a:spcPts val="2940"/>
              </a:lnSpc>
              <a:buNone/>
            </a:pPr>
            <a:r>
              <a:rPr lang="en-US" sz="2800" b="1" dirty="0">
                <a:solidFill>
                  <a:srgbClr val="F08A4B"/>
                </a:solidFill>
                <a:latin typeface="Space Grotesk" pitchFamily="34" charset="0"/>
                <a:ea typeface="Space Grotesk" pitchFamily="34" charset="-122"/>
                <a:cs typeface="Space Grotesk" pitchFamily="34" charset="-120"/>
              </a:rPr>
              <a:t>Write</a:t>
            </a:r>
            <a:endParaRPr lang="en-US" sz="2800" dirty="0"/>
          </a:p>
        </p:txBody>
      </p:sp>
      <p:sp>
        <p:nvSpPr>
          <p:cNvPr id="15" name="Text 13"/>
          <p:cNvSpPr/>
          <p:nvPr/>
        </p:nvSpPr>
        <p:spPr>
          <a:xfrm>
            <a:off x="8890000" y="2787985"/>
            <a:ext cx="2563876" cy="54864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D2DC"/>
                </a:solidFill>
                <a:latin typeface="IBM Plex Sans" pitchFamily="34" charset="0"/>
                <a:ea typeface="IBM Plex Sans" pitchFamily="34" charset="-122"/>
                <a:cs typeface="IBM Plex Sans" pitchFamily="34" charset="-120"/>
              </a:rPr>
              <a:t>the final report and the final presentation</a:t>
            </a:r>
            <a:endParaRPr lang="en-US" sz="13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7B6"/>
                </a:solidFill>
                <a:latin typeface="IBM Plex Sans" pitchFamily="34" charset="0"/>
                <a:ea typeface="IBM Plex Sans" pitchFamily="34" charset="-122"/>
                <a:cs typeface="IBM Plex Sans" pitchFamily="34" charset="-120"/>
              </a:rPr>
              <a:t>Bosia N’dri · 15</a:t>
            </a:r>
            <a:endParaRPr lang="en-US" sz="1200" dirty="0"/>
          </a:p>
        </p:txBody>
      </p:sp>
      <p:sp>
        <p:nvSpPr>
          <p:cNvPr id="21" name="Text 15"/>
          <p:cNvSpPr/>
          <p:nvPr/>
        </p:nvSpPr>
        <p:spPr>
          <a:xfrm>
            <a:off x="813816" y="3931920"/>
            <a:ext cx="5120640" cy="27432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F"/>
                </a:solidFill>
                <a:latin typeface="IBM Plex Sans" pitchFamily="34" charset="0"/>
                <a:ea typeface="IBM Plex Sans" pitchFamily="34" charset="-122"/>
                <a:cs typeface="IBM Plex Sans" pitchFamily="34" charset="-120"/>
              </a:rPr>
              <a:t>Limits</a:t>
            </a:r>
            <a:endParaRPr lang="en-US" sz="1600" dirty="0"/>
          </a:p>
        </p:txBody>
      </p:sp>
      <p:sp>
        <p:nvSpPr>
          <p:cNvPr id="22" name="Text 16"/>
          <p:cNvSpPr/>
          <p:nvPr/>
        </p:nvSpPr>
        <p:spPr>
          <a:xfrm>
            <a:off x="813816" y="4270248"/>
            <a:ext cx="5120640" cy="14630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DC"/>
                </a:solidFill>
                <a:latin typeface="IBM Plex Sans" pitchFamily="34" charset="0"/>
                <a:ea typeface="IBM Plex Sans" pitchFamily="34" charset="-122"/>
                <a:cs typeface="IBM Plex Sans" pitchFamily="34" charset="-120"/>
              </a:rPr>
              <a:t>One validation video; settings chosen on it. YOLO and Faster R-CNN scores differ in scale. Speeds are from different GPUs. Test videos are qualitative.</a:t>
            </a:r>
            <a:endParaRPr lang="en-US" sz="1300" dirty="0"/>
          </a:p>
        </p:txBody>
      </p:sp>
      <p:sp>
        <p:nvSpPr>
          <p:cNvPr id="23" name="Text 15"/>
          <p:cNvSpPr/>
          <p:nvPr/>
        </p:nvSpPr>
        <p:spPr>
          <a:xfrm>
            <a:off x="6355080" y="3931920"/>
            <a:ext cx="5029200" cy="27432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F"/>
                </a:solidFill>
                <a:latin typeface="IBM Plex Sans" pitchFamily="34" charset="0"/>
                <a:ea typeface="IBM Plex Sans" pitchFamily="34" charset="-122"/>
                <a:cs typeface="IBM Plex Sans" pitchFamily="34" charset="-120"/>
              </a:rPr>
              <a:t>Who answers questions</a:t>
            </a:r>
            <a:endParaRPr lang="en-US" sz="1600" dirty="0"/>
          </a:p>
        </p:txBody>
      </p:sp>
      <p:sp>
        <p:nvSpPr>
          <p:cNvPr id="24" name="Text 16"/>
          <p:cNvSpPr/>
          <p:nvPr/>
        </p:nvSpPr>
        <p:spPr>
          <a:xfrm>
            <a:off x="6355080" y="4270248"/>
            <a:ext cx="5029200" cy="14630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2DC"/>
                </a:solidFill>
                <a:latin typeface="IBM Plex Sans" pitchFamily="34" charset="0"/>
                <a:ea typeface="IBM Plex Sans" pitchFamily="34" charset="-122"/>
                <a:cs typeface="IBM Plex Sans" pitchFamily="34" charset="-120"/>
              </a:rPr>
              <a:t>Rehan: Pipeline A and the data. Tony: Pipeline B and the evaluation. Bosia: re-identification and the demo.</a:t>
            </a:r>
            <a:endParaRPr lang="en-US" sz="1300" dirty="0"/>
          </a:p>
        </p:txBody>
      </p:sp>
    </p:spTree>
  </p:cSld>
  <p:clrMapOvr>
    <a:masterClrMapping/>
  </p:clrMapOvr>
</p:sld>
</file>

<file path=ppt/theme/theme1.xml><?xml version="1.0" encoding="utf-8"?>
<a:theme xmlns:a="http://schemas.openxmlformats.org/drawingml/2006/main" name="MOT16 Pedestrian Tracking – Midterm">
  <a:themeElements>
    <a:clrScheme name="MOT16 Pedestrian Tracking – Midterm">
      <a:dk1>
        <a:srgbClr val="15202E"/>
      </a:dk1>
      <a:lt1>
        <a:srgbClr val="F6F4EF"/>
      </a:lt1>
      <a:dk2>
        <a:srgbClr val="4D555E"/>
      </a:dk2>
      <a:lt2>
        <a:srgbClr val="E0DFDC"/>
      </a:lt2>
      <a:accent1>
        <a:srgbClr val="B8501F"/>
      </a:accent1>
      <a:accent2>
        <a:srgbClr val="F08A4B"/>
      </a:accent2>
      <a:accent3>
        <a:srgbClr val="2F6FB3"/>
      </a:accent3>
      <a:accent4>
        <a:srgbClr val="22324A"/>
      </a:accent4>
      <a:accent5>
        <a:srgbClr val="4A5363"/>
      </a:accent5>
      <a:accent6>
        <a:srgbClr val="C9D2DC"/>
      </a:accent6>
      <a:hlink>
        <a:srgbClr val="0563C1"/>
      </a:hlink>
      <a:folHlink>
        <a:srgbClr val="954F72"/>
      </a:folHlink>
    </a:clrScheme>
    <a:fontScheme name="MOT16 Pedestrian Tracking – Midterm">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MOT16 Pedestrian Tracking - Midterm</dc:title>
  <dc:subject/>
  <dc:creator/>
  <cp:lastModifiedBy/>
  <cp:revision>1</cp:revision>
  <dcterms:created xsi:type="dcterms:W3CDTF">2026-10-16T21:39:26Z</dcterms:created>
  <dcterms:modified xsi:type="dcterms:W3CDTF">2026-10-16T21:39:26Z</dcterms:modified>
</cp:coreProperties>
</file>